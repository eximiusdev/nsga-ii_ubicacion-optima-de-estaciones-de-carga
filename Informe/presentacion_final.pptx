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sldIdLst>
    <p:sldId id="256" r:id="rId2"/>
    <p:sldId id="259" r:id="rId3"/>
    <p:sldId id="260" r:id="rId4"/>
    <p:sldId id="261" r:id="rId5"/>
    <p:sldId id="262" r:id="rId6"/>
    <p:sldId id="263" r:id="rId7"/>
    <p:sldId id="266" r:id="rId8"/>
    <p:sldId id="264" r:id="rId9"/>
    <p:sldId id="265" r:id="rId10"/>
    <p:sldId id="267" r:id="rId11"/>
    <p:sldId id="268" r:id="rId12"/>
    <p:sldId id="269" r:id="rId13"/>
    <p:sldId id="270" r:id="rId14"/>
    <p:sldId id="272" r:id="rId15"/>
    <p:sldId id="271" r:id="rId16"/>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A50EE63E-31CC-46DF-AE98-E977F6A381F3}">
          <p14:sldIdLst>
            <p14:sldId id="256"/>
            <p14:sldId id="259"/>
            <p14:sldId id="260"/>
            <p14:sldId id="261"/>
            <p14:sldId id="262"/>
            <p14:sldId id="263"/>
            <p14:sldId id="266"/>
            <p14:sldId id="264"/>
            <p14:sldId id="265"/>
            <p14:sldId id="267"/>
            <p14:sldId id="268"/>
            <p14:sldId id="269"/>
            <p14:sldId id="270"/>
            <p14:sldId id="272"/>
            <p14:sldId id="271"/>
          </p14:sldIdLst>
        </p14:section>
        <p14:section name="Sección sin título" id="{881FAD55-3C4B-43BA-81A6-4234BEED653A}">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96" d="100"/>
          <a:sy n="96" d="100"/>
        </p:scale>
        <p:origin x="86"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28808-26D1-4F4B-96F4-F3082078DD61}"/>
              </a:ext>
            </a:extLst>
          </p:cNvPr>
          <p:cNvSpPr>
            <a:spLocks noGrp="1"/>
          </p:cNvSpPr>
          <p:nvPr>
            <p:ph type="ctrTitle"/>
          </p:nvPr>
        </p:nvSpPr>
        <p:spPr>
          <a:xfrm>
            <a:off x="1257008" y="1122362"/>
            <a:ext cx="8816632" cy="3571557"/>
          </a:xfrm>
        </p:spPr>
        <p:txBody>
          <a:bodyPr anchor="b">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2E0C639-B0CD-4365-98A9-C1E5FF6CF450}"/>
              </a:ext>
            </a:extLst>
          </p:cNvPr>
          <p:cNvSpPr>
            <a:spLocks noGrp="1"/>
          </p:cNvSpPr>
          <p:nvPr>
            <p:ph type="subTitle" idx="1"/>
          </p:nvPr>
        </p:nvSpPr>
        <p:spPr>
          <a:xfrm>
            <a:off x="1257008" y="5521960"/>
            <a:ext cx="8816632" cy="944879"/>
          </a:xfrm>
        </p:spPr>
        <p:txBody>
          <a:bodyPr anchor="ct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C6780C52-E6BB-4B27-B5D8-2D33B2497C56}"/>
              </a:ext>
            </a:extLst>
          </p:cNvPr>
          <p:cNvSpPr>
            <a:spLocks noGrp="1"/>
          </p:cNvSpPr>
          <p:nvPr>
            <p:ph type="dt" sz="half" idx="10"/>
          </p:nvPr>
        </p:nvSpPr>
        <p:spPr/>
        <p:txBody>
          <a:bodyPr/>
          <a:lstStyle/>
          <a:p>
            <a:fld id="{F6CCBF3A-D7FB-4B97-8FD5-6FFB20CB1E84}" type="datetimeFigureOut">
              <a:rPr lang="en-US" smtClean="0"/>
              <a:t>11/20/2025</a:t>
            </a:fld>
            <a:endParaRPr lang="en-US"/>
          </a:p>
        </p:txBody>
      </p:sp>
      <p:sp>
        <p:nvSpPr>
          <p:cNvPr id="5" name="Footer Placeholder 4">
            <a:extLst>
              <a:ext uri="{FF2B5EF4-FFF2-40B4-BE49-F238E27FC236}">
                <a16:creationId xmlns:a16="http://schemas.microsoft.com/office/drawing/2014/main" id="{AF77C649-4A0C-4EF2-8FC1-2BCF0BF95D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0E03F2-D0FE-49BB-8AEC-E99C4DB2D67D}"/>
              </a:ext>
            </a:extLst>
          </p:cNvPr>
          <p:cNvSpPr>
            <a:spLocks noGrp="1"/>
          </p:cNvSpPr>
          <p:nvPr>
            <p:ph type="sldNum" sz="quarter" idx="12"/>
          </p:nvPr>
        </p:nvSpPr>
        <p:spPr/>
        <p:txBody>
          <a:bodyPr/>
          <a:lstStyle/>
          <a:p>
            <a:fld id="{3109D357-8067-4A1F-97B2-93C5160B78D9}" type="slidenum">
              <a:rPr lang="en-US" smtClean="0"/>
              <a:t>‹Nº›</a:t>
            </a:fld>
            <a:endParaRPr lang="en-US"/>
          </a:p>
        </p:txBody>
      </p:sp>
      <p:cxnSp>
        <p:nvCxnSpPr>
          <p:cNvPr id="16" name="Straight Connector 15">
            <a:extLst>
              <a:ext uri="{FF2B5EF4-FFF2-40B4-BE49-F238E27FC236}">
                <a16:creationId xmlns:a16="http://schemas.microsoft.com/office/drawing/2014/main" id="{24A7CC8F-56A6-423D-B67A-8BA89D3EC911}"/>
              </a:ext>
            </a:extLst>
          </p:cNvPr>
          <p:cNvCxnSpPr>
            <a:cxnSpLocks/>
          </p:cNvCxnSpPr>
          <p:nvPr/>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77023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5B5E-C545-4763-BA47-4C2C0FCA514D}"/>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7FA263F8-8E34-4910-BF7A-F1C5A99689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6E74E5-D20D-4AB7-8D98-F336CE0ECCBE}"/>
              </a:ext>
            </a:extLst>
          </p:cNvPr>
          <p:cNvSpPr>
            <a:spLocks noGrp="1"/>
          </p:cNvSpPr>
          <p:nvPr>
            <p:ph type="dt" sz="half" idx="10"/>
          </p:nvPr>
        </p:nvSpPr>
        <p:spPr/>
        <p:txBody>
          <a:bodyPr/>
          <a:lstStyle/>
          <a:p>
            <a:fld id="{F6CCBF3A-D7FB-4B97-8FD5-6FFB20CB1E84}" type="datetimeFigureOut">
              <a:rPr lang="en-US" smtClean="0"/>
              <a:t>11/20/2025</a:t>
            </a:fld>
            <a:endParaRPr lang="en-US"/>
          </a:p>
        </p:txBody>
      </p:sp>
      <p:sp>
        <p:nvSpPr>
          <p:cNvPr id="5" name="Footer Placeholder 4">
            <a:extLst>
              <a:ext uri="{FF2B5EF4-FFF2-40B4-BE49-F238E27FC236}">
                <a16:creationId xmlns:a16="http://schemas.microsoft.com/office/drawing/2014/main" id="{C79D23AA-8F22-4B09-8FAA-CD16E5D66C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E8A028-A0C8-45E7-915E-B83FF59C9F18}"/>
              </a:ext>
            </a:extLst>
          </p:cNvPr>
          <p:cNvSpPr>
            <a:spLocks noGrp="1"/>
          </p:cNvSpPr>
          <p:nvPr>
            <p:ph type="sldNum" sz="quarter" idx="12"/>
          </p:nvPr>
        </p:nvSpPr>
        <p:spPr/>
        <p:txBody>
          <a:bodyPr/>
          <a:lstStyle/>
          <a:p>
            <a:fld id="{3109D357-8067-4A1F-97B2-93C5160B78D9}" type="slidenum">
              <a:rPr lang="en-US" smtClean="0"/>
              <a:t>‹Nº›</a:t>
            </a:fld>
            <a:endParaRPr lang="en-US"/>
          </a:p>
        </p:txBody>
      </p:sp>
    </p:spTree>
    <p:extLst>
      <p:ext uri="{BB962C8B-B14F-4D97-AF65-F5344CB8AC3E}">
        <p14:creationId xmlns:p14="http://schemas.microsoft.com/office/powerpoint/2010/main" val="34589582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9F01F-198D-4AAD-B4FB-AD3B44981ADD}"/>
              </a:ext>
            </a:extLst>
          </p:cNvPr>
          <p:cNvSpPr>
            <a:spLocks noGrp="1"/>
          </p:cNvSpPr>
          <p:nvPr>
            <p:ph type="title"/>
          </p:nvPr>
        </p:nvSpPr>
        <p:spPr>
          <a:xfrm>
            <a:off x="838200" y="838200"/>
            <a:ext cx="9438640" cy="4114800"/>
          </a:xfrm>
        </p:spPr>
        <p:txBody>
          <a:bodyPr anchor="t">
            <a:normAutofit/>
          </a:bodyPr>
          <a:lstStyle>
            <a:lvl1pPr>
              <a:defRPr sz="66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20BCC2B-311B-4FB6-B3A5-26F68055AE38}"/>
              </a:ext>
            </a:extLst>
          </p:cNvPr>
          <p:cNvSpPr>
            <a:spLocks noGrp="1"/>
          </p:cNvSpPr>
          <p:nvPr>
            <p:ph type="body" idx="1"/>
          </p:nvPr>
        </p:nvSpPr>
        <p:spPr>
          <a:xfrm>
            <a:off x="838200" y="5217160"/>
            <a:ext cx="9438640" cy="802640"/>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9CB73D-2D6B-4FA6-89A4-DCC89F80E0F1}"/>
              </a:ext>
            </a:extLst>
          </p:cNvPr>
          <p:cNvSpPr>
            <a:spLocks noGrp="1"/>
          </p:cNvSpPr>
          <p:nvPr>
            <p:ph type="dt" sz="half" idx="10"/>
          </p:nvPr>
        </p:nvSpPr>
        <p:spPr/>
        <p:txBody>
          <a:bodyPr/>
          <a:lstStyle/>
          <a:p>
            <a:fld id="{F6CCBF3A-D7FB-4B97-8FD5-6FFB20CB1E84}" type="datetimeFigureOut">
              <a:rPr lang="en-US" smtClean="0"/>
              <a:t>11/20/2025</a:t>
            </a:fld>
            <a:endParaRPr lang="en-US"/>
          </a:p>
        </p:txBody>
      </p:sp>
      <p:sp>
        <p:nvSpPr>
          <p:cNvPr id="5" name="Footer Placeholder 4">
            <a:extLst>
              <a:ext uri="{FF2B5EF4-FFF2-40B4-BE49-F238E27FC236}">
                <a16:creationId xmlns:a16="http://schemas.microsoft.com/office/drawing/2014/main" id="{B6A0C188-FF43-44C1-A005-679168D5F0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CD1188-DA27-47B2-8176-31193EEC4C28}"/>
              </a:ext>
            </a:extLst>
          </p:cNvPr>
          <p:cNvSpPr>
            <a:spLocks noGrp="1"/>
          </p:cNvSpPr>
          <p:nvPr>
            <p:ph type="sldNum" sz="quarter" idx="12"/>
          </p:nvPr>
        </p:nvSpPr>
        <p:spPr/>
        <p:txBody>
          <a:bodyPr/>
          <a:lstStyle/>
          <a:p>
            <a:fld id="{3109D357-8067-4A1F-97B2-93C5160B78D9}" type="slidenum">
              <a:rPr lang="en-US" smtClean="0"/>
              <a:t>‹Nº›</a:t>
            </a:fld>
            <a:endParaRPr lang="en-US"/>
          </a:p>
        </p:txBody>
      </p:sp>
    </p:spTree>
    <p:extLst>
      <p:ext uri="{BB962C8B-B14F-4D97-AF65-F5344CB8AC3E}">
        <p14:creationId xmlns:p14="http://schemas.microsoft.com/office/powerpoint/2010/main" val="29965688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B5A25-7E99-42A8-8D6D-648EFE2038F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30501DC-62B7-42BD-A941-D34E92719C32}"/>
              </a:ext>
            </a:extLst>
          </p:cNvPr>
          <p:cNvSpPr>
            <a:spLocks noGrp="1"/>
          </p:cNvSpPr>
          <p:nvPr>
            <p:ph sz="half" idx="1"/>
          </p:nvPr>
        </p:nvSpPr>
        <p:spPr>
          <a:xfrm>
            <a:off x="838200" y="2011679"/>
            <a:ext cx="5181600" cy="41652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3765C5C1-4FD4-4958-99A0-BDADECA336BD}"/>
              </a:ext>
            </a:extLst>
          </p:cNvPr>
          <p:cNvSpPr>
            <a:spLocks noGrp="1"/>
          </p:cNvSpPr>
          <p:nvPr>
            <p:ph sz="half" idx="2"/>
          </p:nvPr>
        </p:nvSpPr>
        <p:spPr>
          <a:xfrm>
            <a:off x="6172200" y="2011679"/>
            <a:ext cx="5181600" cy="41652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BD1B234-5D54-44E5-B41D-B205AAF50305}"/>
              </a:ext>
            </a:extLst>
          </p:cNvPr>
          <p:cNvSpPr>
            <a:spLocks noGrp="1"/>
          </p:cNvSpPr>
          <p:nvPr>
            <p:ph type="dt" sz="half" idx="10"/>
          </p:nvPr>
        </p:nvSpPr>
        <p:spPr/>
        <p:txBody>
          <a:bodyPr/>
          <a:lstStyle/>
          <a:p>
            <a:fld id="{F6CCBF3A-D7FB-4B97-8FD5-6FFB20CB1E84}" type="datetimeFigureOut">
              <a:rPr lang="en-US" smtClean="0"/>
              <a:t>11/20/2025</a:t>
            </a:fld>
            <a:endParaRPr lang="en-US"/>
          </a:p>
        </p:txBody>
      </p:sp>
      <p:sp>
        <p:nvSpPr>
          <p:cNvPr id="6" name="Footer Placeholder 5">
            <a:extLst>
              <a:ext uri="{FF2B5EF4-FFF2-40B4-BE49-F238E27FC236}">
                <a16:creationId xmlns:a16="http://schemas.microsoft.com/office/drawing/2014/main" id="{0E67BCDB-6B96-45D6-B5E9-823A96EBD9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239C5F-F16F-4AFD-98D1-FA3BB96AF2CD}"/>
              </a:ext>
            </a:extLst>
          </p:cNvPr>
          <p:cNvSpPr>
            <a:spLocks noGrp="1"/>
          </p:cNvSpPr>
          <p:nvPr>
            <p:ph type="sldNum" sz="quarter" idx="12"/>
          </p:nvPr>
        </p:nvSpPr>
        <p:spPr/>
        <p:txBody>
          <a:bodyPr/>
          <a:lstStyle/>
          <a:p>
            <a:fld id="{3109D357-8067-4A1F-97B2-93C5160B78D9}" type="slidenum">
              <a:rPr lang="en-US" smtClean="0"/>
              <a:t>‹Nº›</a:t>
            </a:fld>
            <a:endParaRPr lang="en-US"/>
          </a:p>
        </p:txBody>
      </p:sp>
    </p:spTree>
    <p:extLst>
      <p:ext uri="{BB962C8B-B14F-4D97-AF65-F5344CB8AC3E}">
        <p14:creationId xmlns:p14="http://schemas.microsoft.com/office/powerpoint/2010/main" val="35507525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44C1F-0040-4BBF-81A6-FD2E30637B0C}"/>
              </a:ext>
            </a:extLst>
          </p:cNvPr>
          <p:cNvSpPr>
            <a:spLocks noGrp="1"/>
          </p:cNvSpPr>
          <p:nvPr>
            <p:ph type="title"/>
          </p:nvPr>
        </p:nvSpPr>
        <p:spPr>
          <a:xfrm>
            <a:off x="839788" y="379780"/>
            <a:ext cx="10515600"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E2894A7-1DA1-44C1-8ED0-716279430690}"/>
              </a:ext>
            </a:extLst>
          </p:cNvPr>
          <p:cNvSpPr>
            <a:spLocks noGrp="1"/>
          </p:cNvSpPr>
          <p:nvPr>
            <p:ph type="body" idx="1"/>
          </p:nvPr>
        </p:nvSpPr>
        <p:spPr>
          <a:xfrm>
            <a:off x="839789" y="1824035"/>
            <a:ext cx="4997132" cy="681040"/>
          </a:xfrm>
        </p:spPr>
        <p:txBody>
          <a:bodyPr anchor="b"/>
          <a:lstStyle>
            <a:lvl1pPr marL="0" indent="0">
              <a:buNone/>
              <a:defRPr sz="2400" b="1" i="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09AB945-31E2-4B60-9076-CBB8F8594949}"/>
              </a:ext>
            </a:extLst>
          </p:cNvPr>
          <p:cNvSpPr>
            <a:spLocks noGrp="1"/>
          </p:cNvSpPr>
          <p:nvPr>
            <p:ph sz="half" idx="2"/>
          </p:nvPr>
        </p:nvSpPr>
        <p:spPr>
          <a:xfrm>
            <a:off x="839789" y="2505075"/>
            <a:ext cx="499713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771B3EA-2E84-4B8B-A104-81BD577424AD}"/>
              </a:ext>
            </a:extLst>
          </p:cNvPr>
          <p:cNvSpPr>
            <a:spLocks noGrp="1"/>
          </p:cNvSpPr>
          <p:nvPr>
            <p:ph type="body" sz="quarter" idx="3"/>
          </p:nvPr>
        </p:nvSpPr>
        <p:spPr>
          <a:xfrm>
            <a:off x="6355080" y="1824035"/>
            <a:ext cx="5000308" cy="681040"/>
          </a:xfrm>
        </p:spPr>
        <p:txBody>
          <a:bodyPr anchor="b"/>
          <a:lstStyle>
            <a:lvl1pPr marL="0" indent="0">
              <a:buNone/>
              <a:defRPr sz="2400" b="1" i="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8511AB8-302C-476E-B80A-AA739911E304}"/>
              </a:ext>
            </a:extLst>
          </p:cNvPr>
          <p:cNvSpPr>
            <a:spLocks noGrp="1"/>
          </p:cNvSpPr>
          <p:nvPr>
            <p:ph sz="quarter" idx="4"/>
          </p:nvPr>
        </p:nvSpPr>
        <p:spPr>
          <a:xfrm>
            <a:off x="6355080" y="2505075"/>
            <a:ext cx="500030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8B47C29-FE34-4E6E-9921-78C54673AAD9}"/>
              </a:ext>
            </a:extLst>
          </p:cNvPr>
          <p:cNvSpPr>
            <a:spLocks noGrp="1"/>
          </p:cNvSpPr>
          <p:nvPr>
            <p:ph type="dt" sz="half" idx="10"/>
          </p:nvPr>
        </p:nvSpPr>
        <p:spPr/>
        <p:txBody>
          <a:bodyPr/>
          <a:lstStyle/>
          <a:p>
            <a:fld id="{F6CCBF3A-D7FB-4B97-8FD5-6FFB20CB1E84}" type="datetimeFigureOut">
              <a:rPr lang="en-US" smtClean="0"/>
              <a:t>11/20/2025</a:t>
            </a:fld>
            <a:endParaRPr lang="en-US"/>
          </a:p>
        </p:txBody>
      </p:sp>
      <p:sp>
        <p:nvSpPr>
          <p:cNvPr id="8" name="Footer Placeholder 7">
            <a:extLst>
              <a:ext uri="{FF2B5EF4-FFF2-40B4-BE49-F238E27FC236}">
                <a16:creationId xmlns:a16="http://schemas.microsoft.com/office/drawing/2014/main" id="{3CF6B420-A9CE-4BB6-A653-5C3ABC7D677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21DF8FE-1179-4798-B16D-AF1DFA266D4D}"/>
              </a:ext>
            </a:extLst>
          </p:cNvPr>
          <p:cNvSpPr>
            <a:spLocks noGrp="1"/>
          </p:cNvSpPr>
          <p:nvPr>
            <p:ph type="sldNum" sz="quarter" idx="12"/>
          </p:nvPr>
        </p:nvSpPr>
        <p:spPr/>
        <p:txBody>
          <a:bodyPr/>
          <a:lstStyle/>
          <a:p>
            <a:fld id="{3109D357-8067-4A1F-97B2-93C5160B78D9}" type="slidenum">
              <a:rPr lang="en-US" smtClean="0"/>
              <a:t>‹Nº›</a:t>
            </a:fld>
            <a:endParaRPr lang="en-US"/>
          </a:p>
        </p:txBody>
      </p:sp>
    </p:spTree>
    <p:extLst>
      <p:ext uri="{BB962C8B-B14F-4D97-AF65-F5344CB8AC3E}">
        <p14:creationId xmlns:p14="http://schemas.microsoft.com/office/powerpoint/2010/main" val="10157660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66F1A-0A68-4048-808F-CD7A9F3B0846}"/>
              </a:ext>
            </a:extLst>
          </p:cNvPr>
          <p:cNvSpPr>
            <a:spLocks noGrp="1"/>
          </p:cNvSpPr>
          <p:nvPr>
            <p:ph type="title"/>
          </p:nvPr>
        </p:nvSpPr>
        <p:spPr>
          <a:xfrm>
            <a:off x="838200" y="999592"/>
            <a:ext cx="10515600" cy="1573223"/>
          </a:xfrm>
        </p:spPr>
        <p:txBody>
          <a:bodyPr anchor="t"/>
          <a:lstStyle/>
          <a:p>
            <a:r>
              <a:rPr lang="en-US"/>
              <a:t>Click to edit Master title style</a:t>
            </a:r>
            <a:endParaRPr lang="en-US" dirty="0"/>
          </a:p>
        </p:txBody>
      </p:sp>
      <p:sp>
        <p:nvSpPr>
          <p:cNvPr id="3" name="Date Placeholder 2">
            <a:extLst>
              <a:ext uri="{FF2B5EF4-FFF2-40B4-BE49-F238E27FC236}">
                <a16:creationId xmlns:a16="http://schemas.microsoft.com/office/drawing/2014/main" id="{28ACB3E6-5365-48F5-8D2A-0B002BA357E3}"/>
              </a:ext>
            </a:extLst>
          </p:cNvPr>
          <p:cNvSpPr>
            <a:spLocks noGrp="1"/>
          </p:cNvSpPr>
          <p:nvPr>
            <p:ph type="dt" sz="half" idx="10"/>
          </p:nvPr>
        </p:nvSpPr>
        <p:spPr/>
        <p:txBody>
          <a:bodyPr/>
          <a:lstStyle/>
          <a:p>
            <a:fld id="{F6CCBF3A-D7FB-4B97-8FD5-6FFB20CB1E84}" type="datetimeFigureOut">
              <a:rPr lang="en-US" smtClean="0"/>
              <a:t>11/20/2025</a:t>
            </a:fld>
            <a:endParaRPr lang="en-US"/>
          </a:p>
        </p:txBody>
      </p:sp>
      <p:sp>
        <p:nvSpPr>
          <p:cNvPr id="4" name="Footer Placeholder 3">
            <a:extLst>
              <a:ext uri="{FF2B5EF4-FFF2-40B4-BE49-F238E27FC236}">
                <a16:creationId xmlns:a16="http://schemas.microsoft.com/office/drawing/2014/main" id="{FF7D8EE9-4D97-4B2F-8D38-41CB9EE7745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12C5952-0A27-4FAB-A3FD-12003787676B}"/>
              </a:ext>
            </a:extLst>
          </p:cNvPr>
          <p:cNvSpPr>
            <a:spLocks noGrp="1"/>
          </p:cNvSpPr>
          <p:nvPr>
            <p:ph type="sldNum" sz="quarter" idx="12"/>
          </p:nvPr>
        </p:nvSpPr>
        <p:spPr/>
        <p:txBody>
          <a:bodyPr/>
          <a:lstStyle/>
          <a:p>
            <a:fld id="{3109D357-8067-4A1F-97B2-93C5160B78D9}" type="slidenum">
              <a:rPr lang="en-US" smtClean="0"/>
              <a:t>‹Nº›</a:t>
            </a:fld>
            <a:endParaRPr lang="en-US"/>
          </a:p>
        </p:txBody>
      </p:sp>
    </p:spTree>
    <p:extLst>
      <p:ext uri="{BB962C8B-B14F-4D97-AF65-F5344CB8AC3E}">
        <p14:creationId xmlns:p14="http://schemas.microsoft.com/office/powerpoint/2010/main" val="10647958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D08427-909D-4679-9192-BC99557A7D06}"/>
              </a:ext>
            </a:extLst>
          </p:cNvPr>
          <p:cNvSpPr>
            <a:spLocks noGrp="1"/>
          </p:cNvSpPr>
          <p:nvPr>
            <p:ph type="dt" sz="half" idx="10"/>
          </p:nvPr>
        </p:nvSpPr>
        <p:spPr/>
        <p:txBody>
          <a:bodyPr/>
          <a:lstStyle/>
          <a:p>
            <a:fld id="{F6CCBF3A-D7FB-4B97-8FD5-6FFB20CB1E84}" type="datetimeFigureOut">
              <a:rPr lang="en-US" smtClean="0"/>
              <a:t>11/20/2025</a:t>
            </a:fld>
            <a:endParaRPr lang="en-US"/>
          </a:p>
        </p:txBody>
      </p:sp>
      <p:sp>
        <p:nvSpPr>
          <p:cNvPr id="3" name="Footer Placeholder 2">
            <a:extLst>
              <a:ext uri="{FF2B5EF4-FFF2-40B4-BE49-F238E27FC236}">
                <a16:creationId xmlns:a16="http://schemas.microsoft.com/office/drawing/2014/main" id="{508E39A6-1E09-42B5-85B4-7E8B5AB2AE7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938940-01DD-4C97-8649-E01C3B0EDF7C}"/>
              </a:ext>
            </a:extLst>
          </p:cNvPr>
          <p:cNvSpPr>
            <a:spLocks noGrp="1"/>
          </p:cNvSpPr>
          <p:nvPr>
            <p:ph type="sldNum" sz="quarter" idx="12"/>
          </p:nvPr>
        </p:nvSpPr>
        <p:spPr/>
        <p:txBody>
          <a:bodyPr/>
          <a:lstStyle/>
          <a:p>
            <a:fld id="{3109D357-8067-4A1F-97B2-93C5160B78D9}" type="slidenum">
              <a:rPr lang="en-US" smtClean="0"/>
              <a:t>‹Nº›</a:t>
            </a:fld>
            <a:endParaRPr lang="en-US"/>
          </a:p>
        </p:txBody>
      </p:sp>
    </p:spTree>
    <p:extLst>
      <p:ext uri="{BB962C8B-B14F-4D97-AF65-F5344CB8AC3E}">
        <p14:creationId xmlns:p14="http://schemas.microsoft.com/office/powerpoint/2010/main" val="8894615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93B3D-D568-40B4-A73A-1C8EA9ABB098}"/>
              </a:ext>
            </a:extLst>
          </p:cNvPr>
          <p:cNvSpPr>
            <a:spLocks noGrp="1"/>
          </p:cNvSpPr>
          <p:nvPr>
            <p:ph type="title"/>
          </p:nvPr>
        </p:nvSpPr>
        <p:spPr>
          <a:xfrm>
            <a:off x="839789" y="457200"/>
            <a:ext cx="3691818" cy="1701800"/>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D586EB3-917A-43B7-85BB-D00B5D2F07E4}"/>
              </a:ext>
            </a:extLst>
          </p:cNvPr>
          <p:cNvSpPr>
            <a:spLocks noGrp="1"/>
          </p:cNvSpPr>
          <p:nvPr>
            <p:ph idx="1"/>
          </p:nvPr>
        </p:nvSpPr>
        <p:spPr>
          <a:xfrm>
            <a:off x="5514798" y="987425"/>
            <a:ext cx="5840589" cy="503237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87AC029-3BC1-4637-A7F9-BC786DC26A38}"/>
              </a:ext>
            </a:extLst>
          </p:cNvPr>
          <p:cNvSpPr>
            <a:spLocks noGrp="1"/>
          </p:cNvSpPr>
          <p:nvPr>
            <p:ph type="body" sz="half" idx="2"/>
          </p:nvPr>
        </p:nvSpPr>
        <p:spPr>
          <a:xfrm>
            <a:off x="839789" y="2372360"/>
            <a:ext cx="3691817" cy="349662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90B948-89C5-4AC5-B7A0-17136F5C5A6A}"/>
              </a:ext>
            </a:extLst>
          </p:cNvPr>
          <p:cNvSpPr>
            <a:spLocks noGrp="1"/>
          </p:cNvSpPr>
          <p:nvPr>
            <p:ph type="dt" sz="half" idx="10"/>
          </p:nvPr>
        </p:nvSpPr>
        <p:spPr/>
        <p:txBody>
          <a:bodyPr/>
          <a:lstStyle/>
          <a:p>
            <a:fld id="{F6CCBF3A-D7FB-4B97-8FD5-6FFB20CB1E84}" type="datetimeFigureOut">
              <a:rPr lang="en-US" smtClean="0"/>
              <a:t>11/20/2025</a:t>
            </a:fld>
            <a:endParaRPr lang="en-US"/>
          </a:p>
        </p:txBody>
      </p:sp>
      <p:sp>
        <p:nvSpPr>
          <p:cNvPr id="6" name="Footer Placeholder 5">
            <a:extLst>
              <a:ext uri="{FF2B5EF4-FFF2-40B4-BE49-F238E27FC236}">
                <a16:creationId xmlns:a16="http://schemas.microsoft.com/office/drawing/2014/main" id="{F3A6C8C5-652F-46CB-BD26-E262B057FA1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FB50CB-E91F-4B71-81F0-800F2B51A344}"/>
              </a:ext>
            </a:extLst>
          </p:cNvPr>
          <p:cNvSpPr>
            <a:spLocks noGrp="1"/>
          </p:cNvSpPr>
          <p:nvPr>
            <p:ph type="sldNum" sz="quarter" idx="12"/>
          </p:nvPr>
        </p:nvSpPr>
        <p:spPr/>
        <p:txBody>
          <a:bodyPr/>
          <a:lstStyle/>
          <a:p>
            <a:fld id="{3109D357-8067-4A1F-97B2-93C5160B78D9}" type="slidenum">
              <a:rPr lang="en-US" smtClean="0"/>
              <a:t>‹Nº›</a:t>
            </a:fld>
            <a:endParaRPr lang="en-US"/>
          </a:p>
        </p:txBody>
      </p:sp>
      <p:cxnSp>
        <p:nvCxnSpPr>
          <p:cNvPr id="8" name="Straight Connector 7">
            <a:extLst>
              <a:ext uri="{FF2B5EF4-FFF2-40B4-BE49-F238E27FC236}">
                <a16:creationId xmlns:a16="http://schemas.microsoft.com/office/drawing/2014/main" id="{8B69B885-FDB8-4C62-A285-A0CDC49A6B0C}"/>
              </a:ext>
            </a:extLst>
          </p:cNvPr>
          <p:cNvCxnSpPr>
            <a:cxnSpLocks/>
          </p:cNvCxnSpPr>
          <p:nvPr/>
        </p:nvCxnSpPr>
        <p:spPr>
          <a:xfrm>
            <a:off x="502320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92535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F941E-6445-4840-81AE-104EF7A4F7E9}"/>
              </a:ext>
            </a:extLst>
          </p:cNvPr>
          <p:cNvSpPr>
            <a:spLocks noGrp="1"/>
          </p:cNvSpPr>
          <p:nvPr>
            <p:ph type="title"/>
          </p:nvPr>
        </p:nvSpPr>
        <p:spPr>
          <a:xfrm>
            <a:off x="839789" y="457200"/>
            <a:ext cx="3696652" cy="1701800"/>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B3F8B866-E32B-4AE7-AEF3-6974AE3288F3}"/>
              </a:ext>
            </a:extLst>
          </p:cNvPr>
          <p:cNvSpPr>
            <a:spLocks noGrp="1"/>
          </p:cNvSpPr>
          <p:nvPr>
            <p:ph type="pic" idx="1"/>
          </p:nvPr>
        </p:nvSpPr>
        <p:spPr>
          <a:xfrm>
            <a:off x="5786120" y="838200"/>
            <a:ext cx="5603238" cy="518159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2ABB7A-E157-499A-B224-C2313181F569}"/>
              </a:ext>
            </a:extLst>
          </p:cNvPr>
          <p:cNvSpPr>
            <a:spLocks noGrp="1"/>
          </p:cNvSpPr>
          <p:nvPr>
            <p:ph type="body" sz="half" idx="2"/>
          </p:nvPr>
        </p:nvSpPr>
        <p:spPr>
          <a:xfrm>
            <a:off x="839789" y="2367280"/>
            <a:ext cx="3696652" cy="350170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C77283-E2B8-405E-BB6E-9F121140E506}"/>
              </a:ext>
            </a:extLst>
          </p:cNvPr>
          <p:cNvSpPr>
            <a:spLocks noGrp="1"/>
          </p:cNvSpPr>
          <p:nvPr>
            <p:ph type="dt" sz="half" idx="10"/>
          </p:nvPr>
        </p:nvSpPr>
        <p:spPr/>
        <p:txBody>
          <a:bodyPr/>
          <a:lstStyle/>
          <a:p>
            <a:fld id="{F6CCBF3A-D7FB-4B97-8FD5-6FFB20CB1E84}" type="datetimeFigureOut">
              <a:rPr lang="en-US" smtClean="0"/>
              <a:t>11/20/2025</a:t>
            </a:fld>
            <a:endParaRPr lang="en-US"/>
          </a:p>
        </p:txBody>
      </p:sp>
      <p:sp>
        <p:nvSpPr>
          <p:cNvPr id="6" name="Footer Placeholder 5">
            <a:extLst>
              <a:ext uri="{FF2B5EF4-FFF2-40B4-BE49-F238E27FC236}">
                <a16:creationId xmlns:a16="http://schemas.microsoft.com/office/drawing/2014/main" id="{F9F21F05-EB94-417F-B19B-96FF3D9ECA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B7C3C7-B6DB-4064-8E66-9FB770C888ED}"/>
              </a:ext>
            </a:extLst>
          </p:cNvPr>
          <p:cNvSpPr>
            <a:spLocks noGrp="1"/>
          </p:cNvSpPr>
          <p:nvPr>
            <p:ph type="sldNum" sz="quarter" idx="12"/>
          </p:nvPr>
        </p:nvSpPr>
        <p:spPr/>
        <p:txBody>
          <a:bodyPr/>
          <a:lstStyle/>
          <a:p>
            <a:fld id="{3109D357-8067-4A1F-97B2-93C5160B78D9}" type="slidenum">
              <a:rPr lang="en-US" smtClean="0"/>
              <a:t>‹Nº›</a:t>
            </a:fld>
            <a:endParaRPr lang="en-US"/>
          </a:p>
        </p:txBody>
      </p:sp>
      <p:cxnSp>
        <p:nvCxnSpPr>
          <p:cNvPr id="8" name="Straight Connector 7">
            <a:extLst>
              <a:ext uri="{FF2B5EF4-FFF2-40B4-BE49-F238E27FC236}">
                <a16:creationId xmlns:a16="http://schemas.microsoft.com/office/drawing/2014/main" id="{51E233FA-220A-423F-907E-5F81526A28A0}"/>
              </a:ext>
            </a:extLst>
          </p:cNvPr>
          <p:cNvCxnSpPr>
            <a:cxnSpLocks/>
          </p:cNvCxnSpPr>
          <p:nvPr/>
        </p:nvCxnSpPr>
        <p:spPr>
          <a:xfrm>
            <a:off x="502320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37404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56D52-667C-4E67-9038-A0BDFD8CCD0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A3E72AC-0272-475A-BD25-2AB7AC1DEFA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CFBFF2-9ECB-4CDD-87FA-9DD1F87BFDE9}"/>
              </a:ext>
            </a:extLst>
          </p:cNvPr>
          <p:cNvSpPr>
            <a:spLocks noGrp="1"/>
          </p:cNvSpPr>
          <p:nvPr>
            <p:ph type="dt" sz="half" idx="10"/>
          </p:nvPr>
        </p:nvSpPr>
        <p:spPr/>
        <p:txBody>
          <a:bodyPr/>
          <a:lstStyle/>
          <a:p>
            <a:fld id="{F6CCBF3A-D7FB-4B97-8FD5-6FFB20CB1E84}" type="datetimeFigureOut">
              <a:rPr lang="en-US" smtClean="0"/>
              <a:t>11/20/2025</a:t>
            </a:fld>
            <a:endParaRPr lang="en-US"/>
          </a:p>
        </p:txBody>
      </p:sp>
      <p:sp>
        <p:nvSpPr>
          <p:cNvPr id="5" name="Footer Placeholder 4">
            <a:extLst>
              <a:ext uri="{FF2B5EF4-FFF2-40B4-BE49-F238E27FC236}">
                <a16:creationId xmlns:a16="http://schemas.microsoft.com/office/drawing/2014/main" id="{40AC12B3-DAF5-4BA7-A3A6-D0284716DB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F171AE-4A11-4035-A072-9AC4053FFA85}"/>
              </a:ext>
            </a:extLst>
          </p:cNvPr>
          <p:cNvSpPr>
            <a:spLocks noGrp="1"/>
          </p:cNvSpPr>
          <p:nvPr>
            <p:ph type="sldNum" sz="quarter" idx="12"/>
          </p:nvPr>
        </p:nvSpPr>
        <p:spPr/>
        <p:txBody>
          <a:bodyPr/>
          <a:lstStyle/>
          <a:p>
            <a:fld id="{3109D357-8067-4A1F-97B2-93C5160B78D9}" type="slidenum">
              <a:rPr lang="en-US" smtClean="0"/>
              <a:t>‹Nº›</a:t>
            </a:fld>
            <a:endParaRPr lang="en-US"/>
          </a:p>
        </p:txBody>
      </p:sp>
    </p:spTree>
    <p:extLst>
      <p:ext uri="{BB962C8B-B14F-4D97-AF65-F5344CB8AC3E}">
        <p14:creationId xmlns:p14="http://schemas.microsoft.com/office/powerpoint/2010/main" val="27460770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A52E95-2F50-48D3-B00E-4C259644E72E}"/>
              </a:ext>
            </a:extLst>
          </p:cNvPr>
          <p:cNvSpPr>
            <a:spLocks noGrp="1"/>
          </p:cNvSpPr>
          <p:nvPr>
            <p:ph type="title" orient="vert"/>
          </p:nvPr>
        </p:nvSpPr>
        <p:spPr>
          <a:xfrm>
            <a:off x="9050174" y="838199"/>
            <a:ext cx="2303626" cy="5338763"/>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2617C9B-4E02-49C8-B6DF-65ED3C990343}"/>
              </a:ext>
            </a:extLst>
          </p:cNvPr>
          <p:cNvSpPr>
            <a:spLocks noGrp="1"/>
          </p:cNvSpPr>
          <p:nvPr>
            <p:ph type="body" orient="vert" idx="1"/>
          </p:nvPr>
        </p:nvSpPr>
        <p:spPr>
          <a:xfrm>
            <a:off x="838200" y="838199"/>
            <a:ext cx="7734300" cy="5338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ECA10C-AC31-4D80-B78F-08E48CDCB7F2}"/>
              </a:ext>
            </a:extLst>
          </p:cNvPr>
          <p:cNvSpPr>
            <a:spLocks noGrp="1"/>
          </p:cNvSpPr>
          <p:nvPr>
            <p:ph type="dt" sz="half" idx="10"/>
          </p:nvPr>
        </p:nvSpPr>
        <p:spPr/>
        <p:txBody>
          <a:bodyPr/>
          <a:lstStyle/>
          <a:p>
            <a:fld id="{F6CCBF3A-D7FB-4B97-8FD5-6FFB20CB1E84}" type="datetimeFigureOut">
              <a:rPr lang="en-US" smtClean="0"/>
              <a:t>11/20/2025</a:t>
            </a:fld>
            <a:endParaRPr lang="en-US"/>
          </a:p>
        </p:txBody>
      </p:sp>
      <p:sp>
        <p:nvSpPr>
          <p:cNvPr id="5" name="Footer Placeholder 4">
            <a:extLst>
              <a:ext uri="{FF2B5EF4-FFF2-40B4-BE49-F238E27FC236}">
                <a16:creationId xmlns:a16="http://schemas.microsoft.com/office/drawing/2014/main" id="{19AAB5B7-F312-4BC9-A5D3-72E065D1B9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C2E489-5442-4698-B6E3-3421A97C2834}"/>
              </a:ext>
            </a:extLst>
          </p:cNvPr>
          <p:cNvSpPr>
            <a:spLocks noGrp="1"/>
          </p:cNvSpPr>
          <p:nvPr>
            <p:ph type="sldNum" sz="quarter" idx="12"/>
          </p:nvPr>
        </p:nvSpPr>
        <p:spPr/>
        <p:txBody>
          <a:bodyPr/>
          <a:lstStyle/>
          <a:p>
            <a:fld id="{3109D357-8067-4A1F-97B2-93C5160B78D9}" type="slidenum">
              <a:rPr lang="en-US" smtClean="0"/>
              <a:t>‹Nº›</a:t>
            </a:fld>
            <a:endParaRPr lang="en-US"/>
          </a:p>
        </p:txBody>
      </p:sp>
      <p:cxnSp>
        <p:nvCxnSpPr>
          <p:cNvPr id="7" name="Straight Connector 6">
            <a:extLst>
              <a:ext uri="{FF2B5EF4-FFF2-40B4-BE49-F238E27FC236}">
                <a16:creationId xmlns:a16="http://schemas.microsoft.com/office/drawing/2014/main" id="{41F3A7E1-F157-4338-B7F7-9C0A2D60B7FF}"/>
              </a:ext>
            </a:extLst>
          </p:cNvPr>
          <p:cNvCxnSpPr>
            <a:cxnSpLocks/>
          </p:cNvCxnSpPr>
          <p:nvPr/>
        </p:nvCxnSpPr>
        <p:spPr>
          <a:xfrm>
            <a:off x="8811337"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51519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476A66-BE83-43F9-A28B-02DF7879AD52}"/>
              </a:ext>
            </a:extLst>
          </p:cNvPr>
          <p:cNvSpPr>
            <a:spLocks noGrp="1"/>
          </p:cNvSpPr>
          <p:nvPr>
            <p:ph type="title"/>
          </p:nvPr>
        </p:nvSpPr>
        <p:spPr>
          <a:xfrm>
            <a:off x="838200" y="584990"/>
            <a:ext cx="10515600" cy="1116811"/>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9D76E94-F276-4F0F-8DD9-B1F8A3198AE1}"/>
              </a:ext>
            </a:extLst>
          </p:cNvPr>
          <p:cNvSpPr>
            <a:spLocks noGrp="1"/>
          </p:cNvSpPr>
          <p:nvPr>
            <p:ph type="body" idx="1"/>
          </p:nvPr>
        </p:nvSpPr>
        <p:spPr>
          <a:xfrm>
            <a:off x="838200" y="2061469"/>
            <a:ext cx="10515600"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4AD964E-3A2E-4DB9-B96A-EDE144A47BDC}"/>
              </a:ext>
            </a:extLst>
          </p:cNvPr>
          <p:cNvSpPr>
            <a:spLocks noGrp="1"/>
          </p:cNvSpPr>
          <p:nvPr>
            <p:ph type="dt" sz="half" idx="2"/>
          </p:nvPr>
        </p:nvSpPr>
        <p:spPr>
          <a:xfrm rot="5400000">
            <a:off x="10425981" y="4687095"/>
            <a:ext cx="2706690" cy="365125"/>
          </a:xfrm>
          <a:prstGeom prst="rect">
            <a:avLst/>
          </a:prstGeom>
        </p:spPr>
        <p:txBody>
          <a:bodyPr vert="horz" lIns="91440" tIns="45720" rIns="91440" bIns="45720" rtlCol="0" anchor="ctr"/>
          <a:lstStyle>
            <a:lvl1pPr algn="r">
              <a:defRPr sz="1000">
                <a:solidFill>
                  <a:schemeClr val="tx1"/>
                </a:solidFill>
              </a:defRPr>
            </a:lvl1pPr>
          </a:lstStyle>
          <a:p>
            <a:fld id="{F6CCBF3A-D7FB-4B97-8FD5-6FFB20CB1E84}" type="datetimeFigureOut">
              <a:rPr lang="en-US" smtClean="0"/>
              <a:t>11/20/2025</a:t>
            </a:fld>
            <a:endParaRPr lang="en-US"/>
          </a:p>
        </p:txBody>
      </p:sp>
      <p:sp>
        <p:nvSpPr>
          <p:cNvPr id="5" name="Footer Placeholder 4">
            <a:extLst>
              <a:ext uri="{FF2B5EF4-FFF2-40B4-BE49-F238E27FC236}">
                <a16:creationId xmlns:a16="http://schemas.microsoft.com/office/drawing/2014/main" id="{0DACB382-EE11-430D-941A-DB76EEB7F2D5}"/>
              </a:ext>
            </a:extLst>
          </p:cNvPr>
          <p:cNvSpPr>
            <a:spLocks noGrp="1"/>
          </p:cNvSpPr>
          <p:nvPr>
            <p:ph type="ftr" sz="quarter" idx="3"/>
          </p:nvPr>
        </p:nvSpPr>
        <p:spPr>
          <a:xfrm rot="5400000">
            <a:off x="-1131161" y="1592957"/>
            <a:ext cx="2973522" cy="365125"/>
          </a:xfrm>
          <a:prstGeom prst="rect">
            <a:avLst/>
          </a:prstGeom>
        </p:spPr>
        <p:txBody>
          <a:bodyPr vert="horz" lIns="91440" tIns="45720" rIns="91440" bIns="45720" rtlCol="0" anchor="ctr"/>
          <a:lstStyle>
            <a:lvl1pPr algn="l">
              <a:defRPr sz="10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A3C562FE-ACD1-43F2-A3DE-5B11E10B7EA5}"/>
              </a:ext>
            </a:extLst>
          </p:cNvPr>
          <p:cNvSpPr>
            <a:spLocks noGrp="1"/>
          </p:cNvSpPr>
          <p:nvPr>
            <p:ph type="sldNum" sz="quarter" idx="4"/>
          </p:nvPr>
        </p:nvSpPr>
        <p:spPr>
          <a:xfrm>
            <a:off x="11512296" y="6356350"/>
            <a:ext cx="574620" cy="365125"/>
          </a:xfrm>
          <a:prstGeom prst="rect">
            <a:avLst/>
          </a:prstGeom>
        </p:spPr>
        <p:txBody>
          <a:bodyPr vert="horz" lIns="91440" tIns="45720" rIns="91440" bIns="45720" rtlCol="0" anchor="ctr"/>
          <a:lstStyle>
            <a:lvl1pPr algn="ctr">
              <a:defRPr sz="1000">
                <a:solidFill>
                  <a:schemeClr val="tx1"/>
                </a:solidFill>
              </a:defRPr>
            </a:lvl1pPr>
          </a:lstStyle>
          <a:p>
            <a:fld id="{3109D357-8067-4A1F-97B2-93C5160B78D9}" type="slidenum">
              <a:rPr lang="en-US" smtClean="0"/>
              <a:t>‹Nº›</a:t>
            </a:fld>
            <a:endParaRPr lang="en-US"/>
          </a:p>
        </p:txBody>
      </p:sp>
      <p:cxnSp>
        <p:nvCxnSpPr>
          <p:cNvPr id="13" name="Straight Connector 12">
            <a:extLst>
              <a:ext uri="{FF2B5EF4-FFF2-40B4-BE49-F238E27FC236}">
                <a16:creationId xmlns:a16="http://schemas.microsoft.com/office/drawing/2014/main" id="{1EB34A3B-1FD5-48FF-9982-1E64C864C01D}"/>
              </a:ext>
            </a:extLst>
          </p:cNvPr>
          <p:cNvCxnSpPr>
            <a:cxnSpLocks/>
          </p:cNvCxnSpPr>
          <p:nvPr/>
        </p:nvCxnSpPr>
        <p:spPr>
          <a:xfrm flipH="1">
            <a:off x="4" y="1824111"/>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084564"/>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SzPct val="80000"/>
        <a:buFont typeface="Arial" panose="020B0604020202020204" pitchFamily="34" charset="0"/>
        <a:buChar char="•"/>
        <a:defRPr sz="20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8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6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FA9327B-0F60-46E3-AD80-CE73838567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ítulo 2">
            <a:extLst>
              <a:ext uri="{FF2B5EF4-FFF2-40B4-BE49-F238E27FC236}">
                <a16:creationId xmlns:a16="http://schemas.microsoft.com/office/drawing/2014/main" id="{F4C3AF7B-6314-4705-6211-F05433093491}"/>
              </a:ext>
            </a:extLst>
          </p:cNvPr>
          <p:cNvSpPr>
            <a:spLocks noGrp="1"/>
          </p:cNvSpPr>
          <p:nvPr>
            <p:ph type="subTitle" idx="1"/>
          </p:nvPr>
        </p:nvSpPr>
        <p:spPr>
          <a:xfrm>
            <a:off x="719557" y="4952791"/>
            <a:ext cx="10752878" cy="793608"/>
          </a:xfrm>
        </p:spPr>
        <p:txBody>
          <a:bodyPr>
            <a:noAutofit/>
          </a:bodyPr>
          <a:lstStyle/>
          <a:p>
            <a:pPr algn="ctr"/>
            <a:r>
              <a:rPr lang="en-US" sz="3200" dirty="0"/>
              <a:t>“Electric Vehicle Charging Station Location Problem” (EVCSLP)</a:t>
            </a:r>
            <a:endParaRPr lang="es-AR" sz="3200" dirty="0"/>
          </a:p>
        </p:txBody>
      </p:sp>
      <p:pic>
        <p:nvPicPr>
          <p:cNvPr id="4" name="Picture 3">
            <a:extLst>
              <a:ext uri="{FF2B5EF4-FFF2-40B4-BE49-F238E27FC236}">
                <a16:creationId xmlns:a16="http://schemas.microsoft.com/office/drawing/2014/main" id="{4EC83AF0-643E-1B18-FD77-0DE95D3F7EDF}"/>
              </a:ext>
            </a:extLst>
          </p:cNvPr>
          <p:cNvPicPr>
            <a:picLocks noChangeAspect="1"/>
          </p:cNvPicPr>
          <p:nvPr/>
        </p:nvPicPr>
        <p:blipFill>
          <a:blip r:embed="rId2"/>
          <a:srcRect t="57714" b="6974"/>
          <a:stretch>
            <a:fillRect/>
          </a:stretch>
        </p:blipFill>
        <p:spPr>
          <a:xfrm>
            <a:off x="20" y="1"/>
            <a:ext cx="12191980" cy="4305300"/>
          </a:xfrm>
          <a:prstGeom prst="rect">
            <a:avLst/>
          </a:prstGeom>
        </p:spPr>
      </p:pic>
      <p:cxnSp>
        <p:nvCxnSpPr>
          <p:cNvPr id="11" name="Straight Connector 10">
            <a:extLst>
              <a:ext uri="{FF2B5EF4-FFF2-40B4-BE49-F238E27FC236}">
                <a16:creationId xmlns:a16="http://schemas.microsoft.com/office/drawing/2014/main" id="{BD1C99D0-461D-4A91-81EF-CCCD798B37A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43053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Subtítulo 2">
            <a:extLst>
              <a:ext uri="{FF2B5EF4-FFF2-40B4-BE49-F238E27FC236}">
                <a16:creationId xmlns:a16="http://schemas.microsoft.com/office/drawing/2014/main" id="{B34B2972-E4E5-CDEA-0E81-403E8F67C217}"/>
              </a:ext>
            </a:extLst>
          </p:cNvPr>
          <p:cNvSpPr txBox="1">
            <a:spLocks/>
          </p:cNvSpPr>
          <p:nvPr/>
        </p:nvSpPr>
        <p:spPr>
          <a:xfrm>
            <a:off x="1938993" y="4321005"/>
            <a:ext cx="8314005" cy="696351"/>
          </a:xfrm>
          <a:prstGeom prst="rect">
            <a:avLst/>
          </a:prstGeom>
        </p:spPr>
        <p:txBody>
          <a:bodyPr vert="horz" lIns="91440" tIns="45720" rIns="91440" bIns="45720" rtlCol="0" anchor="ctr">
            <a:no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2000" kern="1200">
                <a:solidFill>
                  <a:schemeClr val="tx1"/>
                </a:solidFill>
                <a:latin typeface="+mn-lt"/>
                <a:ea typeface="+mn-ea"/>
                <a:cs typeface="+mn-cs"/>
              </a:defRPr>
            </a:lvl1pPr>
            <a:lvl2pPr marL="457200" indent="0" algn="ctr" defTabSz="914400" rtl="0" eaLnBrk="1" latinLnBrk="0" hangingPunct="1">
              <a:lnSpc>
                <a:spcPct val="110000"/>
              </a:lnSpc>
              <a:spcBef>
                <a:spcPts val="500"/>
              </a:spcBef>
              <a:buSzPct val="80000"/>
              <a:buFont typeface="Goudy Old Style" panose="02020502050305020303" pitchFamily="18" charset="0"/>
              <a:buNone/>
              <a:defRPr sz="2000" i="1" kern="1200">
                <a:solidFill>
                  <a:schemeClr val="tx1"/>
                </a:solidFill>
                <a:latin typeface="+mn-lt"/>
                <a:ea typeface="+mn-ea"/>
                <a:cs typeface="+mn-cs"/>
              </a:defRPr>
            </a:lvl2pPr>
            <a:lvl3pPr marL="914400" indent="0" algn="ctr" defTabSz="914400" rtl="0" eaLnBrk="1" latinLnBrk="0" hangingPunct="1">
              <a:lnSpc>
                <a:spcPct val="110000"/>
              </a:lnSpc>
              <a:spcBef>
                <a:spcPts val="500"/>
              </a:spcBef>
              <a:buSzPct val="80000"/>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10000"/>
              </a:lnSpc>
              <a:spcBef>
                <a:spcPts val="500"/>
              </a:spcBef>
              <a:buSzPct val="80000"/>
              <a:buFont typeface="Goudy Old Style" panose="02020502050305020303" pitchFamily="18" charset="0"/>
              <a:buNone/>
              <a:defRPr sz="1600" i="1" kern="1200">
                <a:solidFill>
                  <a:schemeClr val="tx1"/>
                </a:solidFill>
                <a:latin typeface="+mn-lt"/>
                <a:ea typeface="+mn-ea"/>
                <a:cs typeface="+mn-cs"/>
              </a:defRPr>
            </a:lvl4pPr>
            <a:lvl5pPr marL="1828800" indent="0" algn="ctr" defTabSz="914400" rtl="0" eaLnBrk="1" latinLnBrk="0" hangingPunct="1">
              <a:lnSpc>
                <a:spcPct val="110000"/>
              </a:lnSpc>
              <a:spcBef>
                <a:spcPts val="500"/>
              </a:spcBef>
              <a:buSzPct val="80000"/>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s-ES" sz="4400" u="sng" dirty="0"/>
              <a:t>Trabajo Final</a:t>
            </a:r>
            <a:endParaRPr lang="es-AR" sz="4400" u="sng" dirty="0"/>
          </a:p>
        </p:txBody>
      </p:sp>
      <p:sp>
        <p:nvSpPr>
          <p:cNvPr id="2" name="Título 1">
            <a:extLst>
              <a:ext uri="{FF2B5EF4-FFF2-40B4-BE49-F238E27FC236}">
                <a16:creationId xmlns:a16="http://schemas.microsoft.com/office/drawing/2014/main" id="{3FA018F7-8A3B-13F4-53C3-B121D5A8BDA2}"/>
              </a:ext>
            </a:extLst>
          </p:cNvPr>
          <p:cNvSpPr>
            <a:spLocks noGrp="1"/>
          </p:cNvSpPr>
          <p:nvPr>
            <p:ph type="ctrTitle"/>
          </p:nvPr>
        </p:nvSpPr>
        <p:spPr>
          <a:xfrm>
            <a:off x="1251079" y="1427650"/>
            <a:ext cx="9689834" cy="1125050"/>
          </a:xfrm>
        </p:spPr>
        <p:txBody>
          <a:bodyPr anchor="b">
            <a:normAutofit/>
          </a:bodyPr>
          <a:lstStyle/>
          <a:p>
            <a:pPr algn="ctr"/>
            <a:r>
              <a:rPr lang="es-ES" sz="4400" b="1" dirty="0"/>
              <a:t>Inteligencia computacional</a:t>
            </a:r>
            <a:endParaRPr lang="es-AR" sz="4400" b="1" dirty="0"/>
          </a:p>
        </p:txBody>
      </p:sp>
      <p:sp>
        <p:nvSpPr>
          <p:cNvPr id="7" name="CuadroTexto 6">
            <a:extLst>
              <a:ext uri="{FF2B5EF4-FFF2-40B4-BE49-F238E27FC236}">
                <a16:creationId xmlns:a16="http://schemas.microsoft.com/office/drawing/2014/main" id="{CD40BD24-D8C6-F6C6-8B15-99951A498C6B}"/>
              </a:ext>
            </a:extLst>
          </p:cNvPr>
          <p:cNvSpPr txBox="1"/>
          <p:nvPr/>
        </p:nvSpPr>
        <p:spPr>
          <a:xfrm>
            <a:off x="3158486" y="5732950"/>
            <a:ext cx="5875020" cy="1077218"/>
          </a:xfrm>
          <a:prstGeom prst="rect">
            <a:avLst/>
          </a:prstGeom>
          <a:noFill/>
        </p:spPr>
        <p:txBody>
          <a:bodyPr wrap="square">
            <a:spAutoFit/>
          </a:bodyPr>
          <a:lstStyle/>
          <a:p>
            <a:pPr algn="ctr"/>
            <a:r>
              <a:rPr lang="es-ES" sz="3200" dirty="0"/>
              <a:t>Adaptación para vías de alta capacidad/velocidad</a:t>
            </a:r>
            <a:endParaRPr lang="es-AR" sz="3200" dirty="0"/>
          </a:p>
        </p:txBody>
      </p:sp>
    </p:spTree>
    <p:extLst>
      <p:ext uri="{BB962C8B-B14F-4D97-AF65-F5344CB8AC3E}">
        <p14:creationId xmlns:p14="http://schemas.microsoft.com/office/powerpoint/2010/main" val="1878548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D6FCBC63-A481-45CE-53E1-0827CB30C715}"/>
              </a:ext>
            </a:extLst>
          </p:cNvPr>
          <p:cNvSpPr>
            <a:spLocks noGrp="1"/>
          </p:cNvSpPr>
          <p:nvPr>
            <p:ph idx="1"/>
          </p:nvPr>
        </p:nvSpPr>
        <p:spPr>
          <a:xfrm>
            <a:off x="547646" y="1345630"/>
            <a:ext cx="11096708" cy="4880020"/>
          </a:xfrm>
        </p:spPr>
        <p:txBody>
          <a:bodyPr>
            <a:noAutofit/>
          </a:bodyPr>
          <a:lstStyle/>
          <a:p>
            <a:pPr marL="0" indent="0">
              <a:buNone/>
            </a:pPr>
            <a:r>
              <a:rPr lang="es-ES" sz="3200" dirty="0"/>
              <a:t>Optimizar en un determinado territorio que contiene rutas principales y secundarias, autopistas, autovías, y demás vías rápidas de circulación, la ubicación de estaciones de carga para autos y otros medios de transporte eléctricos.</a:t>
            </a:r>
          </a:p>
          <a:p>
            <a:pPr marL="0" indent="0">
              <a:buNone/>
            </a:pPr>
            <a:r>
              <a:rPr lang="es-ES" sz="3200" b="1" dirty="0"/>
              <a:t>Exclusividad en rutas: </a:t>
            </a:r>
          </a:p>
          <a:p>
            <a:pPr>
              <a:buFontTx/>
              <a:buChar char="-"/>
            </a:pPr>
            <a:r>
              <a:rPr lang="es-ES" sz="3200" dirty="0"/>
              <a:t>Mejor calidad de dataset, con mayor precisión y menos </a:t>
            </a:r>
            <a:r>
              <a:rPr lang="es-ES" sz="3200" dirty="0" err="1"/>
              <a:t>abarcativo</a:t>
            </a:r>
            <a:endParaRPr lang="es-ES" sz="3200" dirty="0"/>
          </a:p>
          <a:p>
            <a:pPr>
              <a:buFontTx/>
              <a:buChar char="-"/>
            </a:pPr>
            <a:r>
              <a:rPr lang="es-ES" sz="3200" dirty="0"/>
              <a:t>Es posible representar de igual manera la densidad poblacional</a:t>
            </a:r>
          </a:p>
          <a:p>
            <a:pPr>
              <a:buFontTx/>
              <a:buChar char="-"/>
            </a:pPr>
            <a:r>
              <a:rPr lang="es-ES" sz="3200" dirty="0"/>
              <a:t>Mejor visualización y análisis de resultados</a:t>
            </a:r>
          </a:p>
        </p:txBody>
      </p:sp>
      <p:sp>
        <p:nvSpPr>
          <p:cNvPr id="5" name="Título 4">
            <a:extLst>
              <a:ext uri="{FF2B5EF4-FFF2-40B4-BE49-F238E27FC236}">
                <a16:creationId xmlns:a16="http://schemas.microsoft.com/office/drawing/2014/main" id="{0941155A-8FDD-8D05-F3C0-E9F87CEDC404}"/>
              </a:ext>
            </a:extLst>
          </p:cNvPr>
          <p:cNvSpPr>
            <a:spLocks noGrp="1"/>
          </p:cNvSpPr>
          <p:nvPr>
            <p:ph type="title"/>
          </p:nvPr>
        </p:nvSpPr>
        <p:spPr>
          <a:xfrm>
            <a:off x="4543177" y="246490"/>
            <a:ext cx="3105646" cy="715839"/>
          </a:xfrm>
        </p:spPr>
        <p:txBody>
          <a:bodyPr>
            <a:noAutofit/>
          </a:bodyPr>
          <a:lstStyle/>
          <a:p>
            <a:r>
              <a:rPr lang="es-ES" sz="4800" dirty="0"/>
              <a:t>Objetivo:</a:t>
            </a:r>
            <a:endParaRPr lang="es-AR" sz="4800" dirty="0"/>
          </a:p>
        </p:txBody>
      </p:sp>
    </p:spTree>
    <p:extLst>
      <p:ext uri="{BB962C8B-B14F-4D97-AF65-F5344CB8AC3E}">
        <p14:creationId xmlns:p14="http://schemas.microsoft.com/office/powerpoint/2010/main" val="971762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DE9CB27-E6F1-3269-678B-5A5F6238596B}"/>
              </a:ext>
            </a:extLst>
          </p:cNvPr>
          <p:cNvSpPr>
            <a:spLocks noGrp="1"/>
          </p:cNvSpPr>
          <p:nvPr>
            <p:ph type="title"/>
          </p:nvPr>
        </p:nvSpPr>
        <p:spPr>
          <a:xfrm>
            <a:off x="838199" y="671700"/>
            <a:ext cx="10515600" cy="1116811"/>
          </a:xfrm>
        </p:spPr>
        <p:txBody>
          <a:bodyPr>
            <a:normAutofit fontScale="90000"/>
          </a:bodyPr>
          <a:lstStyle/>
          <a:p>
            <a:pPr algn="ctr"/>
            <a:r>
              <a:rPr lang="es-ES" dirty="0">
                <a:latin typeface="Amasis MT Pro Medium" panose="020F0502020204030204" pitchFamily="18" charset="0"/>
              </a:rPr>
              <a:t>NSGA-II (</a:t>
            </a:r>
            <a:r>
              <a:rPr lang="es-AR" dirty="0">
                <a:latin typeface="Amasis MT Pro Medium" panose="020F0502020204030204" pitchFamily="18" charset="0"/>
              </a:rPr>
              <a:t>Non-</a:t>
            </a:r>
            <a:r>
              <a:rPr lang="es-AR" dirty="0" err="1">
                <a:latin typeface="Amasis MT Pro Medium" panose="020F0502020204030204" pitchFamily="18" charset="0"/>
              </a:rPr>
              <a:t>dominated</a:t>
            </a:r>
            <a:r>
              <a:rPr lang="es-AR" dirty="0">
                <a:latin typeface="Amasis MT Pro Medium" panose="020F0502020204030204" pitchFamily="18" charset="0"/>
              </a:rPr>
              <a:t> Sorting Genetic Algorithm II)</a:t>
            </a:r>
          </a:p>
        </p:txBody>
      </p:sp>
      <p:sp>
        <p:nvSpPr>
          <p:cNvPr id="4" name="CuadroTexto 3">
            <a:extLst>
              <a:ext uri="{FF2B5EF4-FFF2-40B4-BE49-F238E27FC236}">
                <a16:creationId xmlns:a16="http://schemas.microsoft.com/office/drawing/2014/main" id="{CB1722D3-7B33-914A-A559-A11390887724}"/>
              </a:ext>
            </a:extLst>
          </p:cNvPr>
          <p:cNvSpPr txBox="1"/>
          <p:nvPr/>
        </p:nvSpPr>
        <p:spPr>
          <a:xfrm>
            <a:off x="1152196" y="2049517"/>
            <a:ext cx="9887607" cy="4431983"/>
          </a:xfrm>
          <a:prstGeom prst="rect">
            <a:avLst/>
          </a:prstGeom>
          <a:noFill/>
        </p:spPr>
        <p:txBody>
          <a:bodyPr wrap="square" rtlCol="0">
            <a:spAutoFit/>
          </a:bodyPr>
          <a:lstStyle/>
          <a:p>
            <a:r>
              <a:rPr lang="es-ES" sz="2400" b="1" dirty="0"/>
              <a:t>Algoritmo evolutivo multiobjetivo</a:t>
            </a:r>
            <a:r>
              <a:rPr lang="es-ES" sz="2400" dirty="0"/>
              <a:t> diseñado para encontrar un conjunto de </a:t>
            </a:r>
            <a:r>
              <a:rPr lang="es-ES" sz="2400" b="1" dirty="0"/>
              <a:t>soluciones óptimas de Pareto</a:t>
            </a:r>
            <a:r>
              <a:rPr lang="es-ES" sz="2400" dirty="0"/>
              <a:t>.</a:t>
            </a:r>
          </a:p>
          <a:p>
            <a:r>
              <a:rPr lang="es-ES" sz="2400" dirty="0"/>
              <a:t>NO encuentra una única solución, sino un </a:t>
            </a:r>
            <a:r>
              <a:rPr lang="es-ES" sz="2400" b="1" dirty="0"/>
              <a:t>frente de Pareto</a:t>
            </a:r>
            <a:r>
              <a:rPr lang="es-ES" sz="2400" dirty="0"/>
              <a:t> con buenas soluciones que representen diferentes compromisos entre los objetivos.</a:t>
            </a:r>
          </a:p>
          <a:p>
            <a:endParaRPr lang="es-ES" sz="2400" dirty="0"/>
          </a:p>
          <a:p>
            <a:r>
              <a:rPr lang="es-ES" sz="2400" dirty="0"/>
              <a:t>Una solución </a:t>
            </a:r>
            <a:r>
              <a:rPr lang="es-ES" sz="2400" b="1" dirty="0"/>
              <a:t>A domina a B</a:t>
            </a:r>
            <a:r>
              <a:rPr lang="es-ES" sz="2400" dirty="0"/>
              <a:t> si:</a:t>
            </a:r>
          </a:p>
          <a:p>
            <a:r>
              <a:rPr lang="es-ES" sz="2400" dirty="0"/>
              <a:t>A es </a:t>
            </a:r>
            <a:r>
              <a:rPr lang="es-ES" sz="2400" b="1" dirty="0"/>
              <a:t>igual o mejor</a:t>
            </a:r>
            <a:r>
              <a:rPr lang="es-ES" sz="2400" dirty="0"/>
              <a:t> en todos los objetivos, y</a:t>
            </a:r>
          </a:p>
          <a:p>
            <a:r>
              <a:rPr lang="es-ES" sz="2400" dirty="0"/>
              <a:t>A es </a:t>
            </a:r>
            <a:r>
              <a:rPr lang="es-ES" sz="2400" b="1" dirty="0"/>
              <a:t>estrictamente mejor</a:t>
            </a:r>
            <a:r>
              <a:rPr lang="es-ES" sz="2400" dirty="0"/>
              <a:t> en al menos uno.</a:t>
            </a:r>
          </a:p>
          <a:p>
            <a:r>
              <a:rPr lang="es-ES" sz="2400" dirty="0"/>
              <a:t>Las soluciones no dominadas entre sí conforman el </a:t>
            </a:r>
            <a:r>
              <a:rPr lang="es-ES" sz="2400" b="1" dirty="0"/>
              <a:t>frente de Pareto</a:t>
            </a:r>
            <a:r>
              <a:rPr lang="es-ES" sz="2400" dirty="0"/>
              <a:t>.</a:t>
            </a:r>
          </a:p>
          <a:p>
            <a:endParaRPr lang="es-ES" sz="2400" dirty="0"/>
          </a:p>
          <a:p>
            <a:r>
              <a:rPr lang="es-ES" sz="2400" dirty="0"/>
              <a:t>(Algoritmo obtenido de la librería “pymoo” de Python)</a:t>
            </a:r>
          </a:p>
          <a:p>
            <a:endParaRPr lang="es-AR" dirty="0"/>
          </a:p>
        </p:txBody>
      </p:sp>
    </p:spTree>
    <p:extLst>
      <p:ext uri="{BB962C8B-B14F-4D97-AF65-F5344CB8AC3E}">
        <p14:creationId xmlns:p14="http://schemas.microsoft.com/office/powerpoint/2010/main" val="21555611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091997BE-C1DE-5AA4-9B19-3B6C5E97026E}"/>
              </a:ext>
            </a:extLst>
          </p:cNvPr>
          <p:cNvSpPr txBox="1"/>
          <p:nvPr/>
        </p:nvSpPr>
        <p:spPr>
          <a:xfrm>
            <a:off x="773269" y="701042"/>
            <a:ext cx="10795877" cy="5632311"/>
          </a:xfrm>
          <a:prstGeom prst="rect">
            <a:avLst/>
          </a:prstGeom>
          <a:noFill/>
        </p:spPr>
        <p:txBody>
          <a:bodyPr wrap="square">
            <a:spAutoFit/>
          </a:bodyPr>
          <a:lstStyle/>
          <a:p>
            <a:r>
              <a:rPr lang="es-ES" sz="2400" dirty="0"/>
              <a:t> </a:t>
            </a:r>
          </a:p>
          <a:p>
            <a:r>
              <a:rPr lang="es-ES" sz="2400" b="1" dirty="0"/>
              <a:t>	1. Evaluación</a:t>
            </a:r>
          </a:p>
          <a:p>
            <a:r>
              <a:rPr lang="es-ES" sz="2400" dirty="0"/>
              <a:t>Para cada individuo se calculan las funciones objetivo que se desean minimizar (funciones de fitness)</a:t>
            </a:r>
          </a:p>
          <a:p>
            <a:endParaRPr lang="es-ES" sz="2400" dirty="0"/>
          </a:p>
          <a:p>
            <a:r>
              <a:rPr lang="es-ES" sz="2400" b="1" dirty="0"/>
              <a:t>	2. Selección de padres</a:t>
            </a:r>
          </a:p>
          <a:p>
            <a:r>
              <a:rPr lang="es-ES" sz="2400" dirty="0"/>
              <a:t>Usa el método de elección de </a:t>
            </a:r>
            <a:r>
              <a:rPr lang="es-ES" sz="2400" b="1" dirty="0"/>
              <a:t>torneo</a:t>
            </a:r>
            <a:r>
              <a:rPr lang="es-ES" sz="2400" dirty="0"/>
              <a:t>, pero con </a:t>
            </a:r>
            <a:r>
              <a:rPr lang="es-ES" sz="2400" b="1" dirty="0"/>
              <a:t>frentes de dominancia </a:t>
            </a:r>
            <a:r>
              <a:rPr lang="es-ES" sz="2400" dirty="0"/>
              <a:t>(dominance rank).</a:t>
            </a:r>
          </a:p>
          <a:p>
            <a:r>
              <a:rPr lang="es-ES" sz="2400" dirty="0"/>
              <a:t>	Se arman frentes o grupos de soluciones en base al nivel de dominación que tienen. Una vez clasificadas se realiza torneo, y se selecciona en </a:t>
            </a:r>
            <a:r>
              <a:rPr lang="es-ES" sz="2400" b="1" dirty="0"/>
              <a:t>primer grado </a:t>
            </a:r>
            <a:r>
              <a:rPr lang="es-ES" sz="2400" dirty="0"/>
              <a:t>la que posea mejor frente, y en </a:t>
            </a:r>
            <a:r>
              <a:rPr lang="es-ES" sz="2400" b="1" dirty="0"/>
              <a:t>segundo grado </a:t>
            </a:r>
            <a:r>
              <a:rPr lang="es-ES" sz="2400" dirty="0"/>
              <a:t>la que posea mayor distancia al resto de soluciones de su frente (crowding distance).</a:t>
            </a:r>
          </a:p>
          <a:p>
            <a:endParaRPr lang="es-ES" sz="2400" dirty="0"/>
          </a:p>
          <a:p>
            <a:r>
              <a:rPr lang="es-ES" sz="2400" dirty="0"/>
              <a:t>	3. Se utiliza </a:t>
            </a:r>
            <a:r>
              <a:rPr lang="es-ES" sz="2400" b="1" dirty="0"/>
              <a:t>elitismo</a:t>
            </a:r>
            <a:r>
              <a:rPr lang="es-ES" sz="2400" dirty="0"/>
              <a:t>, pero colocando en la siguiente generación todas las soluciones en orden del mejor frente al peor frente, hasta completar la población</a:t>
            </a:r>
          </a:p>
        </p:txBody>
      </p:sp>
      <p:sp>
        <p:nvSpPr>
          <p:cNvPr id="3" name="Título 1">
            <a:extLst>
              <a:ext uri="{FF2B5EF4-FFF2-40B4-BE49-F238E27FC236}">
                <a16:creationId xmlns:a16="http://schemas.microsoft.com/office/drawing/2014/main" id="{C6FE74F5-14C0-7D00-CA7D-C882B0E13AEF}"/>
              </a:ext>
            </a:extLst>
          </p:cNvPr>
          <p:cNvSpPr>
            <a:spLocks noGrp="1"/>
          </p:cNvSpPr>
          <p:nvPr>
            <p:ph type="title"/>
          </p:nvPr>
        </p:nvSpPr>
        <p:spPr>
          <a:xfrm>
            <a:off x="286246" y="-73885"/>
            <a:ext cx="11370365" cy="1116811"/>
          </a:xfrm>
        </p:spPr>
        <p:txBody>
          <a:bodyPr>
            <a:normAutofit fontScale="90000"/>
          </a:bodyPr>
          <a:lstStyle/>
          <a:p>
            <a:pPr algn="ctr"/>
            <a:r>
              <a:rPr lang="es-ES" dirty="0">
                <a:latin typeface="Amasis MT Pro Medium" panose="020F0502020204030204" pitchFamily="18" charset="0"/>
              </a:rPr>
              <a:t>Diferencias con Algoritmo Genético Tradicional:</a:t>
            </a:r>
            <a:endParaRPr lang="es-AR" dirty="0">
              <a:latin typeface="Amasis MT Pro Medium" panose="020F0502020204030204" pitchFamily="18" charset="0"/>
            </a:endParaRPr>
          </a:p>
        </p:txBody>
      </p:sp>
    </p:spTree>
    <p:extLst>
      <p:ext uri="{BB962C8B-B14F-4D97-AF65-F5344CB8AC3E}">
        <p14:creationId xmlns:p14="http://schemas.microsoft.com/office/powerpoint/2010/main" val="38214502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69CCC1-1AE6-3AC3-1D32-DF80C857341C}"/>
              </a:ext>
            </a:extLst>
          </p:cNvPr>
          <p:cNvSpPr>
            <a:spLocks noGrp="1"/>
          </p:cNvSpPr>
          <p:nvPr>
            <p:ph type="title"/>
          </p:nvPr>
        </p:nvSpPr>
        <p:spPr>
          <a:xfrm>
            <a:off x="2428129" y="371707"/>
            <a:ext cx="7335741" cy="747645"/>
          </a:xfrm>
        </p:spPr>
        <p:txBody>
          <a:bodyPr/>
          <a:lstStyle/>
          <a:p>
            <a:r>
              <a:rPr lang="es-ES" dirty="0"/>
              <a:t>Obtención del dataset</a:t>
            </a:r>
            <a:endParaRPr lang="es-AR" dirty="0"/>
          </a:p>
        </p:txBody>
      </p:sp>
      <p:sp>
        <p:nvSpPr>
          <p:cNvPr id="3" name="Marcador de contenido 2">
            <a:extLst>
              <a:ext uri="{FF2B5EF4-FFF2-40B4-BE49-F238E27FC236}">
                <a16:creationId xmlns:a16="http://schemas.microsoft.com/office/drawing/2014/main" id="{A85934A6-B8C8-3071-C4DE-C98E2B8361D8}"/>
              </a:ext>
            </a:extLst>
          </p:cNvPr>
          <p:cNvSpPr>
            <a:spLocks noGrp="1"/>
          </p:cNvSpPr>
          <p:nvPr>
            <p:ph idx="1"/>
          </p:nvPr>
        </p:nvSpPr>
        <p:spPr>
          <a:xfrm>
            <a:off x="838199" y="1663903"/>
            <a:ext cx="10515600" cy="4379088"/>
          </a:xfrm>
        </p:spPr>
        <p:txBody>
          <a:bodyPr>
            <a:noAutofit/>
          </a:bodyPr>
          <a:lstStyle/>
          <a:p>
            <a:pPr marL="0" indent="0">
              <a:buNone/>
            </a:pPr>
            <a:r>
              <a:rPr lang="es-ES" sz="2400" b="1" u="sng" dirty="0"/>
              <a:t>Espacio geográfico del dataset:</a:t>
            </a:r>
            <a:r>
              <a:rPr lang="es-ES" sz="2400" b="1" dirty="0"/>
              <a:t> </a:t>
            </a:r>
            <a:r>
              <a:rPr lang="es-ES" sz="2400" dirty="0"/>
              <a:t>Condado de San Joaquín, California, EE.UU.</a:t>
            </a:r>
          </a:p>
          <a:p>
            <a:pPr marL="0" indent="0">
              <a:buNone/>
            </a:pPr>
            <a:endParaRPr lang="es-ES" sz="2400" dirty="0"/>
          </a:p>
          <a:p>
            <a:pPr marL="0" indent="0">
              <a:buNone/>
            </a:pPr>
            <a:r>
              <a:rPr lang="es-ES" sz="2400" b="1" u="sng" dirty="0"/>
              <a:t>Datos representados en nodos (formato .geopackage) con información de:</a:t>
            </a:r>
          </a:p>
          <a:p>
            <a:pPr marL="0" indent="0">
              <a:buNone/>
            </a:pPr>
            <a:r>
              <a:rPr lang="es-ES" sz="2400" dirty="0"/>
              <a:t>- Datos de librería OSMNX (Python). Descarga de </a:t>
            </a:r>
            <a:r>
              <a:rPr lang="es-AR" sz="2400" dirty="0"/>
              <a:t>OpenStreetMap (OSM).</a:t>
            </a:r>
          </a:p>
          <a:p>
            <a:pPr lvl="1"/>
            <a:r>
              <a:rPr lang="es-AR" sz="2400" dirty="0"/>
              <a:t>Nodos que representan puntos determinados de vías de tránsito vehicular (con coordenadas)</a:t>
            </a:r>
          </a:p>
          <a:p>
            <a:pPr lvl="1"/>
            <a:r>
              <a:rPr lang="es-AR" sz="2400" dirty="0"/>
              <a:t>Cantidad de esquinas que posee un nodo alrededor en un radio determinado (en nuestro caso 1km)</a:t>
            </a:r>
          </a:p>
          <a:p>
            <a:pPr marL="0" indent="0">
              <a:buNone/>
            </a:pPr>
            <a:r>
              <a:rPr lang="es-AR" sz="2400" dirty="0"/>
              <a:t>- Flujo de tráfico en rutas obtenido desde los sitios oficiales de datos del estado de California y del condado de San Joaquín (archivos .geojson unificados)</a:t>
            </a:r>
          </a:p>
        </p:txBody>
      </p:sp>
    </p:spTree>
    <p:extLst>
      <p:ext uri="{BB962C8B-B14F-4D97-AF65-F5344CB8AC3E}">
        <p14:creationId xmlns:p14="http://schemas.microsoft.com/office/powerpoint/2010/main" val="22178613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F4EDF9-EAC7-057D-ACA0-5FDB6C28B7AB}"/>
              </a:ext>
            </a:extLst>
          </p:cNvPr>
          <p:cNvSpPr>
            <a:spLocks noGrp="1"/>
          </p:cNvSpPr>
          <p:nvPr>
            <p:ph type="title"/>
          </p:nvPr>
        </p:nvSpPr>
        <p:spPr>
          <a:xfrm>
            <a:off x="838200" y="262393"/>
            <a:ext cx="10515600" cy="843060"/>
          </a:xfrm>
        </p:spPr>
        <p:txBody>
          <a:bodyPr/>
          <a:lstStyle/>
          <a:p>
            <a:pPr algn="ctr"/>
            <a:r>
              <a:rPr lang="es-ES" dirty="0"/>
              <a:t>Parámetros a optimizar</a:t>
            </a:r>
            <a:endParaRPr lang="es-AR" dirty="0"/>
          </a:p>
        </p:txBody>
      </p:sp>
      <p:sp>
        <p:nvSpPr>
          <p:cNvPr id="3" name="Marcador de contenido 2">
            <a:extLst>
              <a:ext uri="{FF2B5EF4-FFF2-40B4-BE49-F238E27FC236}">
                <a16:creationId xmlns:a16="http://schemas.microsoft.com/office/drawing/2014/main" id="{777E8ABF-1C24-8352-5D87-DDBC57A2974F}"/>
              </a:ext>
            </a:extLst>
          </p:cNvPr>
          <p:cNvSpPr>
            <a:spLocks noGrp="1"/>
          </p:cNvSpPr>
          <p:nvPr>
            <p:ph idx="1"/>
          </p:nvPr>
        </p:nvSpPr>
        <p:spPr>
          <a:xfrm>
            <a:off x="838199" y="1481023"/>
            <a:ext cx="10515600" cy="2836535"/>
          </a:xfrm>
        </p:spPr>
        <p:txBody>
          <a:bodyPr>
            <a:noAutofit/>
          </a:bodyPr>
          <a:lstStyle/>
          <a:p>
            <a:pPr algn="ctr">
              <a:buFontTx/>
              <a:buChar char="-"/>
            </a:pPr>
            <a:r>
              <a:rPr lang="es-ES" sz="2400" b="1" u="sng" dirty="0"/>
              <a:t>Cantidad de estaciones de carga </a:t>
            </a:r>
            <a:r>
              <a:rPr lang="es-ES" sz="2400" dirty="0"/>
              <a:t>en el territorio (ubicadas en las posiciones de los nodos del dataset)</a:t>
            </a:r>
          </a:p>
          <a:p>
            <a:pPr algn="ctr">
              <a:buFontTx/>
              <a:buChar char="-"/>
            </a:pPr>
            <a:r>
              <a:rPr lang="es-ES" sz="2400" b="1" u="sng" dirty="0"/>
              <a:t>Distancia máxima </a:t>
            </a:r>
            <a:r>
              <a:rPr lang="es-ES" sz="2400" dirty="0"/>
              <a:t>desde un nodo hacia la estación de carga mas cercana</a:t>
            </a:r>
          </a:p>
          <a:p>
            <a:pPr algn="ctr">
              <a:buFontTx/>
              <a:buChar char="-"/>
            </a:pPr>
            <a:r>
              <a:rPr lang="es-ES" sz="2400" b="1" u="sng" dirty="0"/>
              <a:t>Prioridad</a:t>
            </a:r>
            <a:r>
              <a:rPr lang="es-ES" sz="2400" dirty="0"/>
              <a:t> de colocación de una estación en un nodo (viene dada por el </a:t>
            </a:r>
            <a:r>
              <a:rPr lang="es-ES" sz="2400" b="1" u="sng" dirty="0"/>
              <a:t>flujo de trafico</a:t>
            </a:r>
            <a:r>
              <a:rPr lang="es-ES" sz="2400" dirty="0"/>
              <a:t> sobre el nodo y la </a:t>
            </a:r>
            <a:r>
              <a:rPr lang="es-ES" sz="2400" b="1" u="sng" dirty="0"/>
              <a:t>cantidad de esquinas</a:t>
            </a:r>
            <a:r>
              <a:rPr lang="es-ES" sz="2400" b="1" dirty="0"/>
              <a:t> </a:t>
            </a:r>
            <a:r>
              <a:rPr lang="es-ES" sz="2400" dirty="0"/>
              <a:t>que lo rodean en un radio R, que viene a representar aproximadamente un valor relativo de densidad poblacional).</a:t>
            </a:r>
          </a:p>
          <a:p>
            <a:pPr algn="ctr">
              <a:buFontTx/>
              <a:buChar char="-"/>
            </a:pPr>
            <a:endParaRPr lang="es-AR" sz="2400" dirty="0"/>
          </a:p>
        </p:txBody>
      </p:sp>
      <p:sp>
        <p:nvSpPr>
          <p:cNvPr id="5" name="CuadroTexto 4">
            <a:extLst>
              <a:ext uri="{FF2B5EF4-FFF2-40B4-BE49-F238E27FC236}">
                <a16:creationId xmlns:a16="http://schemas.microsoft.com/office/drawing/2014/main" id="{2ECAB543-310F-06E0-0369-C3F3148EBC30}"/>
              </a:ext>
            </a:extLst>
          </p:cNvPr>
          <p:cNvSpPr txBox="1"/>
          <p:nvPr/>
        </p:nvSpPr>
        <p:spPr>
          <a:xfrm>
            <a:off x="2062983" y="4728365"/>
            <a:ext cx="8066033" cy="1569660"/>
          </a:xfrm>
          <a:prstGeom prst="rect">
            <a:avLst/>
          </a:prstGeom>
          <a:noFill/>
        </p:spPr>
        <p:txBody>
          <a:bodyPr wrap="square">
            <a:spAutoFit/>
          </a:bodyPr>
          <a:lstStyle/>
          <a:p>
            <a:pPr algn="ctr">
              <a:spcBef>
                <a:spcPts val="600"/>
              </a:spcBef>
              <a:spcAft>
                <a:spcPts val="600"/>
              </a:spcAft>
              <a:buNone/>
            </a:pPr>
            <a:r>
              <a:rPr lang="es-AR" sz="3200" i="1" dirty="0"/>
              <a:t>De cada uno de estos parámetros, se realiza una función de fitness que se debe minimizar, y se las pasa como argumento al algoritmo de NSGA-II</a:t>
            </a:r>
          </a:p>
        </p:txBody>
      </p:sp>
    </p:spTree>
    <p:extLst>
      <p:ext uri="{BB962C8B-B14F-4D97-AF65-F5344CB8AC3E}">
        <p14:creationId xmlns:p14="http://schemas.microsoft.com/office/powerpoint/2010/main" val="10562094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365E13-14A9-7A20-B14B-6AD867FB8D50}"/>
              </a:ext>
            </a:extLst>
          </p:cNvPr>
          <p:cNvSpPr>
            <a:spLocks noGrp="1"/>
          </p:cNvSpPr>
          <p:nvPr>
            <p:ph type="title"/>
          </p:nvPr>
        </p:nvSpPr>
        <p:spPr>
          <a:xfrm>
            <a:off x="838200" y="0"/>
            <a:ext cx="10515600" cy="1116811"/>
          </a:xfrm>
        </p:spPr>
        <p:txBody>
          <a:bodyPr/>
          <a:lstStyle/>
          <a:p>
            <a:pPr algn="ctr"/>
            <a:r>
              <a:rPr lang="es-ES" dirty="0"/>
              <a:t>Implementación del algoritmo</a:t>
            </a:r>
            <a:endParaRPr lang="es-AR" dirty="0"/>
          </a:p>
        </p:txBody>
      </p:sp>
      <p:sp>
        <p:nvSpPr>
          <p:cNvPr id="3" name="Marcador de contenido 2">
            <a:extLst>
              <a:ext uri="{FF2B5EF4-FFF2-40B4-BE49-F238E27FC236}">
                <a16:creationId xmlns:a16="http://schemas.microsoft.com/office/drawing/2014/main" id="{AE602FDD-A3E4-26D5-004C-3D9AB09FDC33}"/>
              </a:ext>
            </a:extLst>
          </p:cNvPr>
          <p:cNvSpPr>
            <a:spLocks noGrp="1"/>
          </p:cNvSpPr>
          <p:nvPr>
            <p:ph idx="1"/>
          </p:nvPr>
        </p:nvSpPr>
        <p:spPr>
          <a:xfrm>
            <a:off x="838200" y="1506771"/>
            <a:ext cx="10515600" cy="4687295"/>
          </a:xfrm>
        </p:spPr>
        <p:txBody>
          <a:bodyPr>
            <a:noAutofit/>
          </a:bodyPr>
          <a:lstStyle/>
          <a:p>
            <a:pPr marL="0" indent="0">
              <a:buNone/>
            </a:pPr>
            <a:r>
              <a:rPr lang="es-ES" u="sng" dirty="0"/>
              <a:t>VARIABLES Y VALORES UTILIZADOS PARA SU RESOLUCIÓN:</a:t>
            </a:r>
          </a:p>
          <a:p>
            <a:pPr>
              <a:buFontTx/>
              <a:buChar char="-"/>
            </a:pPr>
            <a:r>
              <a:rPr lang="es-ES" b="1" dirty="0" err="1"/>
              <a:t>pop_size</a:t>
            </a:r>
            <a:r>
              <a:rPr lang="es-ES" b="1" dirty="0"/>
              <a:t> </a:t>
            </a:r>
            <a:r>
              <a:rPr lang="es-ES" dirty="0"/>
              <a:t>= 200 (población fija de 200 individuos)</a:t>
            </a:r>
          </a:p>
          <a:p>
            <a:pPr>
              <a:buFontTx/>
              <a:buChar char="-"/>
            </a:pPr>
            <a:r>
              <a:rPr lang="es-ES" b="1" dirty="0" err="1"/>
              <a:t>n_gen</a:t>
            </a:r>
            <a:r>
              <a:rPr lang="es-ES" b="1" dirty="0"/>
              <a:t> </a:t>
            </a:r>
            <a:r>
              <a:rPr lang="es-ES" dirty="0"/>
              <a:t>= 1000 (número de generaciones)</a:t>
            </a:r>
          </a:p>
          <a:p>
            <a:pPr>
              <a:buFontTx/>
              <a:buChar char="-"/>
            </a:pPr>
            <a:r>
              <a:rPr lang="es-ES" b="1" dirty="0" err="1"/>
              <a:t>n_nodos</a:t>
            </a:r>
            <a:r>
              <a:rPr lang="es-ES" b="1" dirty="0"/>
              <a:t> </a:t>
            </a:r>
            <a:r>
              <a:rPr lang="es-ES" dirty="0"/>
              <a:t>= 488 (número de nodos del dataset, es fijo y en estas posiciones se puede colocar una estación o no)</a:t>
            </a:r>
          </a:p>
          <a:p>
            <a:pPr>
              <a:buFontTx/>
              <a:buChar char="-"/>
            </a:pPr>
            <a:r>
              <a:rPr lang="es-AR" b="1" dirty="0" err="1"/>
              <a:t>d_max</a:t>
            </a:r>
            <a:r>
              <a:rPr lang="es-AR" b="1" dirty="0"/>
              <a:t> </a:t>
            </a:r>
            <a:r>
              <a:rPr lang="es-AR" dirty="0"/>
              <a:t>= 10000 / 20000 (representa la autonomía de un coche eléctrico básico en metros)</a:t>
            </a:r>
          </a:p>
          <a:p>
            <a:pPr lvl="1">
              <a:buFontTx/>
              <a:buChar char="-"/>
            </a:pPr>
            <a:r>
              <a:rPr lang="es-ES" sz="2000" dirty="0"/>
              <a:t>Si la distancia de un nodo del individuo a la estación de carga más cercana supera este valor, el individuo es fuertemente penalizado. </a:t>
            </a:r>
          </a:p>
          <a:p>
            <a:pPr>
              <a:buFontTx/>
              <a:buChar char="-"/>
            </a:pPr>
            <a:r>
              <a:rPr lang="es-ES" b="1" dirty="0" err="1"/>
              <a:t>X_init</a:t>
            </a:r>
            <a:r>
              <a:rPr lang="es-ES" b="1" dirty="0"/>
              <a:t> </a:t>
            </a:r>
            <a:r>
              <a:rPr lang="es-ES" dirty="0"/>
              <a:t>(población con generación aleatoria)</a:t>
            </a:r>
          </a:p>
          <a:p>
            <a:pPr lvl="1">
              <a:buFontTx/>
              <a:buChar char="-"/>
            </a:pPr>
            <a:r>
              <a:rPr lang="es-ES" sz="2000" dirty="0"/>
              <a:t>Cada cromosoma binario representa la ubicación de las estaciones, es decir, cada gen representa a un nodo en el dataset y se coloca 1 en el mismo si hay una estación y 0 si no la hay.</a:t>
            </a:r>
          </a:p>
          <a:p>
            <a:pPr marL="274320" lvl="1" indent="0">
              <a:buNone/>
            </a:pPr>
            <a:endParaRPr lang="es-ES" sz="2000" dirty="0"/>
          </a:p>
          <a:p>
            <a:pPr>
              <a:buFontTx/>
              <a:buChar char="-"/>
            </a:pPr>
            <a:endParaRPr lang="es-AR" dirty="0"/>
          </a:p>
        </p:txBody>
      </p:sp>
    </p:spTree>
    <p:extLst>
      <p:ext uri="{BB962C8B-B14F-4D97-AF65-F5344CB8AC3E}">
        <p14:creationId xmlns:p14="http://schemas.microsoft.com/office/powerpoint/2010/main" val="729622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FE174BAD-145E-E9BF-4D28-CDECB37C61F1}"/>
              </a:ext>
            </a:extLst>
          </p:cNvPr>
          <p:cNvSpPr txBox="1"/>
          <p:nvPr/>
        </p:nvSpPr>
        <p:spPr>
          <a:xfrm>
            <a:off x="1003639" y="403686"/>
            <a:ext cx="4043855" cy="1815882"/>
          </a:xfrm>
          <a:prstGeom prst="rect">
            <a:avLst/>
          </a:prstGeom>
          <a:noFill/>
        </p:spPr>
        <p:txBody>
          <a:bodyPr wrap="square" rtlCol="0">
            <a:spAutoFit/>
          </a:bodyPr>
          <a:lstStyle/>
          <a:p>
            <a:pPr algn="ctr"/>
            <a:r>
              <a:rPr lang="es-ES" sz="2800" dirty="0"/>
              <a:t>FRONTERA O FRENTE DE PARETO</a:t>
            </a:r>
          </a:p>
          <a:p>
            <a:pPr algn="ctr"/>
            <a:r>
              <a:rPr lang="es-ES" sz="2800" dirty="0"/>
              <a:t>(conjunto de soluciones no dominadas)</a:t>
            </a:r>
            <a:endParaRPr lang="es-AR" sz="2800" dirty="0"/>
          </a:p>
        </p:txBody>
      </p:sp>
      <p:pic>
        <p:nvPicPr>
          <p:cNvPr id="11" name="Imagen 10">
            <a:extLst>
              <a:ext uri="{FF2B5EF4-FFF2-40B4-BE49-F238E27FC236}">
                <a16:creationId xmlns:a16="http://schemas.microsoft.com/office/drawing/2014/main" id="{70FA1AF8-F810-668B-7217-B87AA7ECFB01}"/>
              </a:ext>
            </a:extLst>
          </p:cNvPr>
          <p:cNvPicPr>
            <a:picLocks noChangeAspect="1"/>
          </p:cNvPicPr>
          <p:nvPr/>
        </p:nvPicPr>
        <p:blipFill>
          <a:blip r:embed="rId2"/>
          <a:stretch>
            <a:fillRect/>
          </a:stretch>
        </p:blipFill>
        <p:spPr>
          <a:xfrm>
            <a:off x="6292682" y="216175"/>
            <a:ext cx="5621578" cy="4455246"/>
          </a:xfrm>
          <a:prstGeom prst="rect">
            <a:avLst/>
          </a:prstGeom>
        </p:spPr>
      </p:pic>
      <p:sp>
        <p:nvSpPr>
          <p:cNvPr id="13" name="CuadroTexto 12">
            <a:extLst>
              <a:ext uri="{FF2B5EF4-FFF2-40B4-BE49-F238E27FC236}">
                <a16:creationId xmlns:a16="http://schemas.microsoft.com/office/drawing/2014/main" id="{E6645156-65FF-5DC6-2448-796B86D3E6FD}"/>
              </a:ext>
            </a:extLst>
          </p:cNvPr>
          <p:cNvSpPr txBox="1"/>
          <p:nvPr/>
        </p:nvSpPr>
        <p:spPr>
          <a:xfrm>
            <a:off x="6708824" y="4918842"/>
            <a:ext cx="4789293" cy="1384995"/>
          </a:xfrm>
          <a:prstGeom prst="rect">
            <a:avLst/>
          </a:prstGeom>
          <a:noFill/>
        </p:spPr>
        <p:txBody>
          <a:bodyPr wrap="square" rtlCol="0">
            <a:spAutoFit/>
          </a:bodyPr>
          <a:lstStyle/>
          <a:p>
            <a:pPr algn="ctr"/>
            <a:r>
              <a:rPr lang="es-ES" sz="2800" dirty="0"/>
              <a:t>Ejemplos de soluciones no dominadas (15 primeras soluciones obtenidas)</a:t>
            </a:r>
            <a:endParaRPr lang="es-AR" sz="2800" dirty="0"/>
          </a:p>
        </p:txBody>
      </p:sp>
      <p:pic>
        <p:nvPicPr>
          <p:cNvPr id="18" name="Imagen 17">
            <a:extLst>
              <a:ext uri="{FF2B5EF4-FFF2-40B4-BE49-F238E27FC236}">
                <a16:creationId xmlns:a16="http://schemas.microsoft.com/office/drawing/2014/main" id="{7EB0A8E0-3A1D-F51B-E3C6-F331925773BC}"/>
              </a:ext>
            </a:extLst>
          </p:cNvPr>
          <p:cNvPicPr>
            <a:picLocks noChangeAspect="1"/>
          </p:cNvPicPr>
          <p:nvPr/>
        </p:nvPicPr>
        <p:blipFill>
          <a:blip r:embed="rId3"/>
          <a:stretch>
            <a:fillRect/>
          </a:stretch>
        </p:blipFill>
        <p:spPr>
          <a:xfrm>
            <a:off x="169770" y="2471894"/>
            <a:ext cx="5488630" cy="4102359"/>
          </a:xfrm>
          <a:prstGeom prst="rect">
            <a:avLst/>
          </a:prstGeom>
        </p:spPr>
      </p:pic>
    </p:spTree>
    <p:extLst>
      <p:ext uri="{BB962C8B-B14F-4D97-AF65-F5344CB8AC3E}">
        <p14:creationId xmlns:p14="http://schemas.microsoft.com/office/powerpoint/2010/main" val="1279525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uadroTexto 13">
            <a:extLst>
              <a:ext uri="{FF2B5EF4-FFF2-40B4-BE49-F238E27FC236}">
                <a16:creationId xmlns:a16="http://schemas.microsoft.com/office/drawing/2014/main" id="{C16B6E13-4941-A8BC-0616-9A4876F0F72C}"/>
              </a:ext>
            </a:extLst>
          </p:cNvPr>
          <p:cNvSpPr txBox="1"/>
          <p:nvPr/>
        </p:nvSpPr>
        <p:spPr>
          <a:xfrm>
            <a:off x="3880337" y="18869"/>
            <a:ext cx="4431323" cy="584775"/>
          </a:xfrm>
          <a:prstGeom prst="rect">
            <a:avLst/>
          </a:prstGeom>
          <a:noFill/>
        </p:spPr>
        <p:txBody>
          <a:bodyPr wrap="square" rtlCol="0">
            <a:spAutoFit/>
          </a:bodyPr>
          <a:lstStyle/>
          <a:p>
            <a:r>
              <a:rPr lang="es-ES" sz="3200" b="1" i="1" dirty="0"/>
              <a:t>Caso para d_max = 10000</a:t>
            </a:r>
            <a:endParaRPr lang="es-AR" sz="3200" b="1" i="1" dirty="0"/>
          </a:p>
        </p:txBody>
      </p:sp>
      <p:pic>
        <p:nvPicPr>
          <p:cNvPr id="3" name="Imagen 2">
            <a:extLst>
              <a:ext uri="{FF2B5EF4-FFF2-40B4-BE49-F238E27FC236}">
                <a16:creationId xmlns:a16="http://schemas.microsoft.com/office/drawing/2014/main" id="{94339583-E855-13BC-9F73-F92050D85CAB}"/>
              </a:ext>
            </a:extLst>
          </p:cNvPr>
          <p:cNvPicPr>
            <a:picLocks noChangeAspect="1"/>
          </p:cNvPicPr>
          <p:nvPr/>
        </p:nvPicPr>
        <p:blipFill>
          <a:blip r:embed="rId2"/>
          <a:stretch>
            <a:fillRect/>
          </a:stretch>
        </p:blipFill>
        <p:spPr>
          <a:xfrm>
            <a:off x="2126973" y="510398"/>
            <a:ext cx="8138160" cy="3219073"/>
          </a:xfrm>
          <a:prstGeom prst="rect">
            <a:avLst/>
          </a:prstGeom>
        </p:spPr>
      </p:pic>
      <p:pic>
        <p:nvPicPr>
          <p:cNvPr id="7" name="Imagen 6">
            <a:extLst>
              <a:ext uri="{FF2B5EF4-FFF2-40B4-BE49-F238E27FC236}">
                <a16:creationId xmlns:a16="http://schemas.microsoft.com/office/drawing/2014/main" id="{25791F82-4B44-C7AD-AA8F-56DBF70169F2}"/>
              </a:ext>
            </a:extLst>
          </p:cNvPr>
          <p:cNvPicPr>
            <a:picLocks noChangeAspect="1"/>
          </p:cNvPicPr>
          <p:nvPr/>
        </p:nvPicPr>
        <p:blipFill>
          <a:blip r:embed="rId3"/>
          <a:stretch>
            <a:fillRect/>
          </a:stretch>
        </p:blipFill>
        <p:spPr>
          <a:xfrm>
            <a:off x="2126972" y="3729471"/>
            <a:ext cx="8138161" cy="3133355"/>
          </a:xfrm>
          <a:prstGeom prst="rect">
            <a:avLst/>
          </a:prstGeom>
        </p:spPr>
      </p:pic>
    </p:spTree>
    <p:extLst>
      <p:ext uri="{BB962C8B-B14F-4D97-AF65-F5344CB8AC3E}">
        <p14:creationId xmlns:p14="http://schemas.microsoft.com/office/powerpoint/2010/main" val="35335350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E8DC6A27-4E59-0209-88B3-F545C8524770}"/>
              </a:ext>
            </a:extLst>
          </p:cNvPr>
          <p:cNvPicPr>
            <a:picLocks noChangeAspect="1"/>
          </p:cNvPicPr>
          <p:nvPr/>
        </p:nvPicPr>
        <p:blipFill>
          <a:blip r:embed="rId2"/>
          <a:stretch>
            <a:fillRect/>
          </a:stretch>
        </p:blipFill>
        <p:spPr>
          <a:xfrm>
            <a:off x="0" y="917581"/>
            <a:ext cx="12192000" cy="5022838"/>
          </a:xfrm>
          <a:prstGeom prst="rect">
            <a:avLst/>
          </a:prstGeom>
        </p:spPr>
      </p:pic>
    </p:spTree>
    <p:extLst>
      <p:ext uri="{BB962C8B-B14F-4D97-AF65-F5344CB8AC3E}">
        <p14:creationId xmlns:p14="http://schemas.microsoft.com/office/powerpoint/2010/main" val="28725059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EA5544A-3A51-686E-FA2C-C8F1F69A9F66}"/>
              </a:ext>
            </a:extLst>
          </p:cNvPr>
          <p:cNvSpPr txBox="1"/>
          <p:nvPr/>
        </p:nvSpPr>
        <p:spPr>
          <a:xfrm>
            <a:off x="3880338" y="0"/>
            <a:ext cx="4431323" cy="584775"/>
          </a:xfrm>
          <a:prstGeom prst="rect">
            <a:avLst/>
          </a:prstGeom>
          <a:noFill/>
        </p:spPr>
        <p:txBody>
          <a:bodyPr wrap="square" rtlCol="0">
            <a:spAutoFit/>
          </a:bodyPr>
          <a:lstStyle/>
          <a:p>
            <a:r>
              <a:rPr lang="es-ES" sz="3200" b="1" i="1" dirty="0"/>
              <a:t>Caso para d_max = 20000</a:t>
            </a:r>
            <a:endParaRPr lang="es-AR" sz="3200" b="1" i="1" dirty="0"/>
          </a:p>
        </p:txBody>
      </p:sp>
      <p:pic>
        <p:nvPicPr>
          <p:cNvPr id="3" name="Imagen 2">
            <a:extLst>
              <a:ext uri="{FF2B5EF4-FFF2-40B4-BE49-F238E27FC236}">
                <a16:creationId xmlns:a16="http://schemas.microsoft.com/office/drawing/2014/main" id="{8DEAE9B5-AA5D-495D-0F4C-AC75DEAAD8C4}"/>
              </a:ext>
            </a:extLst>
          </p:cNvPr>
          <p:cNvPicPr>
            <a:picLocks noChangeAspect="1"/>
          </p:cNvPicPr>
          <p:nvPr/>
        </p:nvPicPr>
        <p:blipFill>
          <a:blip r:embed="rId2"/>
          <a:stretch>
            <a:fillRect/>
          </a:stretch>
        </p:blipFill>
        <p:spPr>
          <a:xfrm>
            <a:off x="1956019" y="584775"/>
            <a:ext cx="8279959" cy="3196948"/>
          </a:xfrm>
          <a:prstGeom prst="rect">
            <a:avLst/>
          </a:prstGeom>
        </p:spPr>
      </p:pic>
      <p:pic>
        <p:nvPicPr>
          <p:cNvPr id="8" name="Imagen 7">
            <a:extLst>
              <a:ext uri="{FF2B5EF4-FFF2-40B4-BE49-F238E27FC236}">
                <a16:creationId xmlns:a16="http://schemas.microsoft.com/office/drawing/2014/main" id="{80A479A9-196C-6FC9-D5C8-7DC1407D4F36}"/>
              </a:ext>
            </a:extLst>
          </p:cNvPr>
          <p:cNvPicPr>
            <a:picLocks noChangeAspect="1"/>
          </p:cNvPicPr>
          <p:nvPr/>
        </p:nvPicPr>
        <p:blipFill>
          <a:blip r:embed="rId3"/>
          <a:stretch>
            <a:fillRect/>
          </a:stretch>
        </p:blipFill>
        <p:spPr>
          <a:xfrm>
            <a:off x="1956019" y="3792502"/>
            <a:ext cx="8279959" cy="3065498"/>
          </a:xfrm>
          <a:prstGeom prst="rect">
            <a:avLst/>
          </a:prstGeom>
        </p:spPr>
      </p:pic>
    </p:spTree>
    <p:extLst>
      <p:ext uri="{BB962C8B-B14F-4D97-AF65-F5344CB8AC3E}">
        <p14:creationId xmlns:p14="http://schemas.microsoft.com/office/powerpoint/2010/main" val="28994856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39933950-4B89-A323-F22B-966D96FB2CFE}"/>
              </a:ext>
            </a:extLst>
          </p:cNvPr>
          <p:cNvPicPr>
            <a:picLocks noChangeAspect="1"/>
          </p:cNvPicPr>
          <p:nvPr/>
        </p:nvPicPr>
        <p:blipFill>
          <a:blip r:embed="rId2"/>
          <a:stretch>
            <a:fillRect/>
          </a:stretch>
        </p:blipFill>
        <p:spPr>
          <a:xfrm>
            <a:off x="324246" y="962108"/>
            <a:ext cx="11543508" cy="4755674"/>
          </a:xfrm>
          <a:prstGeom prst="rect">
            <a:avLst/>
          </a:prstGeom>
        </p:spPr>
      </p:pic>
    </p:spTree>
    <p:extLst>
      <p:ext uri="{BB962C8B-B14F-4D97-AF65-F5344CB8AC3E}">
        <p14:creationId xmlns:p14="http://schemas.microsoft.com/office/powerpoint/2010/main" val="3221903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0B40B8A-152A-5EBA-01A5-826D06B00EA8}"/>
              </a:ext>
            </a:extLst>
          </p:cNvPr>
          <p:cNvSpPr>
            <a:spLocks noGrp="1"/>
          </p:cNvSpPr>
          <p:nvPr>
            <p:ph type="title"/>
          </p:nvPr>
        </p:nvSpPr>
        <p:spPr>
          <a:xfrm>
            <a:off x="838200" y="0"/>
            <a:ext cx="10515600" cy="1116811"/>
          </a:xfrm>
        </p:spPr>
        <p:txBody>
          <a:bodyPr/>
          <a:lstStyle/>
          <a:p>
            <a:r>
              <a:rPr lang="es-ES" dirty="0"/>
              <a:t>Resultados:</a:t>
            </a:r>
            <a:endParaRPr lang="es-AR" dirty="0"/>
          </a:p>
        </p:txBody>
      </p:sp>
      <p:sp>
        <p:nvSpPr>
          <p:cNvPr id="3" name="Marcador de contenido 2">
            <a:extLst>
              <a:ext uri="{FF2B5EF4-FFF2-40B4-BE49-F238E27FC236}">
                <a16:creationId xmlns:a16="http://schemas.microsoft.com/office/drawing/2014/main" id="{5BC58BAE-B925-1CD4-818A-A3759FF8CAD8}"/>
              </a:ext>
            </a:extLst>
          </p:cNvPr>
          <p:cNvSpPr>
            <a:spLocks noGrp="1"/>
          </p:cNvSpPr>
          <p:nvPr>
            <p:ph idx="1"/>
          </p:nvPr>
        </p:nvSpPr>
        <p:spPr>
          <a:xfrm>
            <a:off x="774589" y="1240135"/>
            <a:ext cx="10515600" cy="5359448"/>
          </a:xfrm>
        </p:spPr>
        <p:txBody>
          <a:bodyPr>
            <a:noAutofit/>
          </a:bodyPr>
          <a:lstStyle/>
          <a:p>
            <a:r>
              <a:rPr lang="es-ES" dirty="0"/>
              <a:t>Se obtiene un </a:t>
            </a:r>
            <a:r>
              <a:rPr lang="es-ES" b="1" dirty="0"/>
              <a:t>abanico de posibles soluciones </a:t>
            </a:r>
            <a:r>
              <a:rPr lang="es-ES" dirty="0"/>
              <a:t>mediante el Frente de Pareto en donde se pueden priorizar distintos objetivos a la hora de seleccionar una de ellas.</a:t>
            </a:r>
          </a:p>
          <a:p>
            <a:r>
              <a:rPr lang="es-AR" dirty="0"/>
              <a:t>Se logra una representación que relaciona </a:t>
            </a:r>
            <a:r>
              <a:rPr lang="es-AR" b="1" dirty="0"/>
              <a:t>parámetros de gran utilidad </a:t>
            </a:r>
            <a:r>
              <a:rPr lang="es-AR" dirty="0"/>
              <a:t>como lo son la distancia, flujo de autos en una vía o densidad poblacional. </a:t>
            </a:r>
          </a:p>
          <a:p>
            <a:r>
              <a:rPr lang="es-AR" dirty="0"/>
              <a:t>El modelo de optimización es más recomendable utilizarlo para </a:t>
            </a:r>
            <a:r>
              <a:rPr lang="es-AR" b="1" dirty="0"/>
              <a:t>regiones con gran proporción de vías de alta velocidad y/o capacidad</a:t>
            </a:r>
            <a:r>
              <a:rPr lang="es-AR" dirty="0"/>
              <a:t>. Para grandes zonas urbanas no se obtiene el mismo desempeño ya que el dataset utilizado no cuenta con información de nodos que no correspondan a rutas.</a:t>
            </a:r>
          </a:p>
          <a:p>
            <a:r>
              <a:rPr lang="es-AR" dirty="0"/>
              <a:t>La distancia desde un nodo a su estación más cercana se calcula por </a:t>
            </a:r>
            <a:r>
              <a:rPr lang="es-AR" b="1" dirty="0"/>
              <a:t>distancia euclídea</a:t>
            </a:r>
            <a:r>
              <a:rPr lang="es-AR" dirty="0"/>
              <a:t>. Esto </a:t>
            </a:r>
            <a:r>
              <a:rPr lang="es-AR" b="1" dirty="0"/>
              <a:t>no es muy representativo</a:t>
            </a:r>
            <a:r>
              <a:rPr lang="es-AR" dirty="0"/>
              <a:t> para la manera que tiene un automóvil de recorrer un camino. Sin embargo, si corresponde a una distancia relativa y comparable.</a:t>
            </a:r>
          </a:p>
          <a:p>
            <a:r>
              <a:rPr lang="es-AR" dirty="0"/>
              <a:t>Dada una estación en un nodo, no se tuvo en cuenta la </a:t>
            </a:r>
            <a:r>
              <a:rPr lang="es-AR" b="1" dirty="0"/>
              <a:t>capacidad de acceso a energía eléctrica</a:t>
            </a:r>
            <a:r>
              <a:rPr lang="es-AR" dirty="0"/>
              <a:t> ni a </a:t>
            </a:r>
            <a:r>
              <a:rPr lang="es-AR" b="1" dirty="0"/>
              <a:t>espacio físico disponible/precios</a:t>
            </a:r>
            <a:r>
              <a:rPr lang="es-AR" dirty="0"/>
              <a:t> de tal sector o de sus alrededores. Esta es información compleja de obtener pero aumenta notablemente la calidad de la solución. Dada esta información se podrían reemplazar varias estaciones de un mismo tamaño por una de tamaño y capacidad eléctrica mayor.</a:t>
            </a:r>
          </a:p>
        </p:txBody>
      </p:sp>
    </p:spTree>
    <p:extLst>
      <p:ext uri="{BB962C8B-B14F-4D97-AF65-F5344CB8AC3E}">
        <p14:creationId xmlns:p14="http://schemas.microsoft.com/office/powerpoint/2010/main" val="24869943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DFD211-CD9F-CE31-A34C-1F1F8534C47F}"/>
              </a:ext>
            </a:extLst>
          </p:cNvPr>
          <p:cNvSpPr>
            <a:spLocks noGrp="1"/>
          </p:cNvSpPr>
          <p:nvPr>
            <p:ph type="title"/>
          </p:nvPr>
        </p:nvSpPr>
        <p:spPr>
          <a:xfrm>
            <a:off x="4276808" y="160808"/>
            <a:ext cx="3638384" cy="739693"/>
          </a:xfrm>
        </p:spPr>
        <p:txBody>
          <a:bodyPr/>
          <a:lstStyle/>
          <a:p>
            <a:r>
              <a:rPr lang="es-ES" dirty="0"/>
              <a:t>Validación</a:t>
            </a:r>
            <a:endParaRPr lang="es-AR" dirty="0"/>
          </a:p>
        </p:txBody>
      </p:sp>
      <p:sp>
        <p:nvSpPr>
          <p:cNvPr id="3" name="Marcador de contenido 2">
            <a:extLst>
              <a:ext uri="{FF2B5EF4-FFF2-40B4-BE49-F238E27FC236}">
                <a16:creationId xmlns:a16="http://schemas.microsoft.com/office/drawing/2014/main" id="{AF3C0905-2134-79CA-56E1-842AB7E32F91}"/>
              </a:ext>
            </a:extLst>
          </p:cNvPr>
          <p:cNvSpPr>
            <a:spLocks noGrp="1"/>
          </p:cNvSpPr>
          <p:nvPr>
            <p:ph idx="1"/>
          </p:nvPr>
        </p:nvSpPr>
        <p:spPr>
          <a:xfrm>
            <a:off x="742785" y="1075507"/>
            <a:ext cx="10515600" cy="5404806"/>
          </a:xfrm>
        </p:spPr>
        <p:txBody>
          <a:bodyPr>
            <a:noAutofit/>
          </a:bodyPr>
          <a:lstStyle/>
          <a:p>
            <a:pPr marL="0" indent="0">
              <a:buNone/>
            </a:pPr>
            <a:r>
              <a:rPr lang="es-ES" sz="2800" dirty="0"/>
              <a:t>	Al no poseer una representación en el mundo real de colocación de estaciones de carga para autos eléctricos con los parámetros que seleccionamos nosotros, no tenemos con que comparar los resultados.</a:t>
            </a:r>
          </a:p>
          <a:p>
            <a:pPr marL="0" indent="0">
              <a:buNone/>
            </a:pPr>
            <a:r>
              <a:rPr lang="es-ES" sz="2800" dirty="0"/>
              <a:t>	Sin embargo, lo que realizamos es verificar que los resultados obtenidos mediante el algoritmo de optimización son los </a:t>
            </a:r>
            <a:r>
              <a:rPr lang="es-ES" sz="2800" b="1" dirty="0"/>
              <a:t>más adecuados </a:t>
            </a:r>
            <a:r>
              <a:rPr lang="es-ES" sz="2800" dirty="0"/>
              <a:t>para las circunstancias dadas en el dataset mediante un índice de eficiencia realizado mediante la comparación de los datos y las soluciones. Probamos también que todas las soluciones correspondientes al Frente de Pareto son </a:t>
            </a:r>
            <a:r>
              <a:rPr lang="es-ES" sz="2800" b="1" dirty="0"/>
              <a:t>óptimas</a:t>
            </a:r>
            <a:r>
              <a:rPr lang="es-ES" sz="2800" dirty="0"/>
              <a:t>, es decir que reduciéndole uno de los parámetros de la solución se empeoran los otros y “ensuciarían” la solución determinada en vez de mejorarla.</a:t>
            </a:r>
            <a:endParaRPr lang="es-AR" sz="2800" dirty="0"/>
          </a:p>
        </p:txBody>
      </p:sp>
    </p:spTree>
    <p:extLst>
      <p:ext uri="{BB962C8B-B14F-4D97-AF65-F5344CB8AC3E}">
        <p14:creationId xmlns:p14="http://schemas.microsoft.com/office/powerpoint/2010/main" val="20797558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2F36C9-83E5-308C-BF7E-F13880F85008}"/>
              </a:ext>
            </a:extLst>
          </p:cNvPr>
          <p:cNvSpPr>
            <a:spLocks noGrp="1"/>
          </p:cNvSpPr>
          <p:nvPr>
            <p:ph type="title"/>
          </p:nvPr>
        </p:nvSpPr>
        <p:spPr>
          <a:xfrm>
            <a:off x="3586866" y="2827627"/>
            <a:ext cx="5018268" cy="1202745"/>
          </a:xfrm>
        </p:spPr>
        <p:txBody>
          <a:bodyPr>
            <a:noAutofit/>
          </a:bodyPr>
          <a:lstStyle/>
          <a:p>
            <a:r>
              <a:rPr lang="es-ES" sz="8000" dirty="0"/>
              <a:t>¡GRACIAS!</a:t>
            </a:r>
            <a:endParaRPr lang="es-AR" sz="8000" dirty="0"/>
          </a:p>
        </p:txBody>
      </p:sp>
    </p:spTree>
    <p:extLst>
      <p:ext uri="{BB962C8B-B14F-4D97-AF65-F5344CB8AC3E}">
        <p14:creationId xmlns:p14="http://schemas.microsoft.com/office/powerpoint/2010/main" val="2511000923"/>
      </p:ext>
    </p:extLst>
  </p:cSld>
  <p:clrMapOvr>
    <a:masterClrMapping/>
  </p:clrMapOvr>
</p:sld>
</file>

<file path=ppt/theme/theme1.xml><?xml version="1.0" encoding="utf-8"?>
<a:theme xmlns:a="http://schemas.openxmlformats.org/drawingml/2006/main" name="ArchwayVTI">
  <a:themeElements>
    <a:clrScheme name="Custom 1">
      <a:dk1>
        <a:sysClr val="windowText" lastClr="000000"/>
      </a:dk1>
      <a:lt1>
        <a:sysClr val="window" lastClr="FFFFFF"/>
      </a:lt1>
      <a:dk2>
        <a:srgbClr val="2E3A3C"/>
      </a:dk2>
      <a:lt2>
        <a:srgbClr val="EDE9E7"/>
      </a:lt2>
      <a:accent1>
        <a:srgbClr val="898470"/>
      </a:accent1>
      <a:accent2>
        <a:srgbClr val="7A8773"/>
      </a:accent2>
      <a:accent3>
        <a:srgbClr val="8C845E"/>
      </a:accent3>
      <a:accent4>
        <a:srgbClr val="9F7E56"/>
      </a:accent4>
      <a:accent5>
        <a:srgbClr val="9B7E69"/>
      </a:accent5>
      <a:accent6>
        <a:srgbClr val="AA7862"/>
      </a:accent6>
      <a:hlink>
        <a:srgbClr val="7A8773"/>
      </a:hlink>
      <a:folHlink>
        <a:srgbClr val="9F7E56"/>
      </a:folHlink>
    </a:clrScheme>
    <a:fontScheme name="Archway">
      <a:majorFont>
        <a:latin typeface="Felix Titling"/>
        <a:ea typeface=""/>
        <a:cs typeface=""/>
      </a:majorFont>
      <a:minorFont>
        <a:latin typeface="Goudy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wayVTI" id="{309F1D27-9968-4F93-BA7C-3666A757FD2E}" vid="{76D8E8FD-8787-4E56-A14A-C28BF58ABEEE}"/>
    </a:ext>
  </a:extLst>
</a:theme>
</file>

<file path=docProps/app.xml><?xml version="1.0" encoding="utf-8"?>
<Properties xmlns="http://schemas.openxmlformats.org/officeDocument/2006/extended-properties" xmlns:vt="http://schemas.openxmlformats.org/officeDocument/2006/docPropsVTypes">
  <TotalTime>201</TotalTime>
  <Words>1073</Words>
  <Application>Microsoft Office PowerPoint</Application>
  <PresentationFormat>Panorámica</PresentationFormat>
  <Paragraphs>67</Paragraphs>
  <Slides>15</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15</vt:i4>
      </vt:variant>
    </vt:vector>
  </HeadingPairs>
  <TitlesOfParts>
    <vt:vector size="20" baseType="lpstr">
      <vt:lpstr>Amasis MT Pro Medium</vt:lpstr>
      <vt:lpstr>Arial</vt:lpstr>
      <vt:lpstr>Felix Titling</vt:lpstr>
      <vt:lpstr>Goudy Old Style</vt:lpstr>
      <vt:lpstr>ArchwayVTI</vt:lpstr>
      <vt:lpstr>Inteligencia computacional</vt:lpstr>
      <vt:lpstr>Objetivo:</vt:lpstr>
      <vt:lpstr>NSGA-II (Non-dominated Sorting Genetic Algorithm II)</vt:lpstr>
      <vt:lpstr>Diferencias con Algoritmo Genético Tradicional:</vt:lpstr>
      <vt:lpstr>Obtención del dataset</vt:lpstr>
      <vt:lpstr>Parámetros a optimizar</vt:lpstr>
      <vt:lpstr>Implementación del algoritmo</vt:lpstr>
      <vt:lpstr>Presentación de PowerPoint</vt:lpstr>
      <vt:lpstr>Presentación de PowerPoint</vt:lpstr>
      <vt:lpstr>Presentación de PowerPoint</vt:lpstr>
      <vt:lpstr>Presentación de PowerPoint</vt:lpstr>
      <vt:lpstr>Presentación de PowerPoint</vt:lpstr>
      <vt:lpstr>Resultados:</vt:lpstr>
      <vt:lpstr>Validación</vt:lpstr>
      <vt:lpstr>¡GRACIAS!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Hernán Correa</dc:creator>
  <cp:lastModifiedBy>Hernán Correa</cp:lastModifiedBy>
  <cp:revision>9</cp:revision>
  <dcterms:created xsi:type="dcterms:W3CDTF">2025-11-20T03:54:58Z</dcterms:created>
  <dcterms:modified xsi:type="dcterms:W3CDTF">2025-11-20T08:17:34Z</dcterms:modified>
</cp:coreProperties>
</file>